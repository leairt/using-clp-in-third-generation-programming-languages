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0"/>
  </p:notesMasterIdLst>
  <p:sldIdLst>
    <p:sldId id="256" r:id="rId2"/>
    <p:sldId id="260" r:id="rId3"/>
    <p:sldId id="258" r:id="rId4"/>
    <p:sldId id="310" r:id="rId5"/>
    <p:sldId id="311" r:id="rId6"/>
    <p:sldId id="312" r:id="rId7"/>
    <p:sldId id="313" r:id="rId8"/>
    <p:sldId id="314" r:id="rId9"/>
    <p:sldId id="283" r:id="rId10"/>
    <p:sldId id="267" r:id="rId11"/>
    <p:sldId id="317" r:id="rId12"/>
    <p:sldId id="318" r:id="rId13"/>
    <p:sldId id="319" r:id="rId14"/>
    <p:sldId id="320" r:id="rId15"/>
    <p:sldId id="263" r:id="rId16"/>
    <p:sldId id="272" r:id="rId17"/>
    <p:sldId id="268" r:id="rId18"/>
    <p:sldId id="289" r:id="rId19"/>
  </p:sldIdLst>
  <p:sldSz cx="9144000" cy="5143500" type="screen16x9"/>
  <p:notesSz cx="6858000" cy="9144000"/>
  <p:embeddedFontLst>
    <p:embeddedFont>
      <p:font typeface="Lato" pitchFamily="34" charset="0"/>
      <p:regular r:id="rId21"/>
      <p:bold r:id="rId22"/>
      <p:italic r:id="rId23"/>
      <p:boldItalic r:id="rId24"/>
    </p:embeddedFont>
    <p:embeddedFont>
      <p:font typeface="Roboto" charset="0"/>
      <p:regular r:id="rId25"/>
      <p:bold r:id="rId26"/>
      <p:italic r:id="rId27"/>
      <p:boldItalic r:id="rId28"/>
    </p:embeddedFont>
    <p:embeddedFont>
      <p:font typeface="Consolas" pitchFamily="49" charset="0"/>
      <p:regular r:id="rId29"/>
      <p:bold r:id="rId30"/>
      <p:italic r:id="rId31"/>
      <p:boldItalic r:id="rId32"/>
    </p:embeddedFont>
    <p:embeddedFont>
      <p:font typeface="Fira Sans" charset="0"/>
      <p:regular r:id="rId33"/>
      <p:bold r:id="rId34"/>
      <p:italic r:id="rId35"/>
      <p:boldItalic r:id="rId36"/>
    </p:embeddedFont>
    <p:embeddedFont>
      <p:font typeface="Lato Light" charset="-18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275CDA2-E2D2-4AD3-9408-22099924ABD4}">
  <a:tblStyle styleId="{5275CDA2-E2D2-4AD3-9408-22099924A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99" autoAdjust="0"/>
  </p:normalViewPr>
  <p:slideViewPr>
    <p:cSldViewPr>
      <p:cViewPr>
        <p:scale>
          <a:sx n="120" d="100"/>
          <a:sy n="120" d="100"/>
        </p:scale>
        <p:origin x="-1374" y="-54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973586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bd52a6e33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bd52a6e33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e3a0c757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e3a0c757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e3a0c757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e3a0c757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e3a0c757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e3a0c757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e3a0c757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e3a0c757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e3a0c757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e3a0c757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e3a0c757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e3a0c757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be807a58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be807a58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be807a589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be807a589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be807a589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be807a589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be807a589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be807a589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be807a589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be807a589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be807a589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be807a589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be807a589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be807a589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be807a589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be807a589c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be690e8118_0_31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be690e8118_0_31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be807a589c_0_21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be807a589c_0_21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6F6F6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05250" y="1125450"/>
            <a:ext cx="7333500" cy="22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Font typeface="Fira Sans"/>
              <a:buNone/>
              <a:defRPr sz="6500" b="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Font typeface="Fira Sans"/>
              <a:buNone/>
              <a:defRPr sz="7000" b="0"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00050" y="3293313"/>
            <a:ext cx="7743900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  <a:defRPr sz="2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2"/>
          <p:cNvSpPr txBox="1"/>
          <p:nvPr/>
        </p:nvSpPr>
        <p:spPr>
          <a:xfrm rot="-5400000">
            <a:off x="-498225" y="34519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16850+1964↓1516⦽2260⋂0◻3165⦰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7;p3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429000" y="-125"/>
            <a:ext cx="5715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591610" y="1808200"/>
            <a:ext cx="3363900" cy="18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4604550" y="3524025"/>
            <a:ext cx="34245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4578671" y="957975"/>
            <a:ext cx="1257000" cy="115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rtl="0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4" name="Google Shape;44;p6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6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489000" y="1319800"/>
            <a:ext cx="81660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1029300" y="3365900"/>
            <a:ext cx="70854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0" name="Google Shape;80;p11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" name="Google Shape;81;p11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1"/>
          <p:cNvSpPr/>
          <p:nvPr/>
        </p:nvSpPr>
        <p:spPr>
          <a:xfrm rot="-2700000">
            <a:off x="-64714" y="493761"/>
            <a:ext cx="3543878" cy="3615578"/>
          </a:xfrm>
          <a:prstGeom prst="plus">
            <a:avLst>
              <a:gd name="adj" fmla="val 3630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1"/>
          <p:cNvSpPr/>
          <p:nvPr/>
        </p:nvSpPr>
        <p:spPr>
          <a:xfrm rot="10800000">
            <a:off x="5588400" y="25"/>
            <a:ext cx="3555600" cy="35556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1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0.T&amp;++1964↓3165⦰1558963K4⋂0◻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3781238" y="2843791"/>
            <a:ext cx="727500" cy="742200"/>
          </a:xfrm>
          <a:prstGeom prst="plus">
            <a:avLst>
              <a:gd name="adj" fmla="val 3630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3840025" y="1446700"/>
            <a:ext cx="639900" cy="639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" name="Google Shape;90;p13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3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200875" y="2450"/>
            <a:ext cx="19431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2"/>
          </p:nvPr>
        </p:nvSpPr>
        <p:spPr>
          <a:xfrm>
            <a:off x="443325" y="1350034"/>
            <a:ext cx="32625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665050" y="1611033"/>
            <a:ext cx="30408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3"/>
          </p:nvPr>
        </p:nvSpPr>
        <p:spPr>
          <a:xfrm>
            <a:off x="443325" y="2811834"/>
            <a:ext cx="32625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4"/>
          </p:nvPr>
        </p:nvSpPr>
        <p:spPr>
          <a:xfrm>
            <a:off x="665050" y="3072834"/>
            <a:ext cx="30408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5"/>
          </p:nvPr>
        </p:nvSpPr>
        <p:spPr>
          <a:xfrm>
            <a:off x="4622740" y="2096084"/>
            <a:ext cx="32625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6"/>
          </p:nvPr>
        </p:nvSpPr>
        <p:spPr>
          <a:xfrm>
            <a:off x="4622740" y="2357084"/>
            <a:ext cx="30408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/>
          </p:nvPr>
        </p:nvSpPr>
        <p:spPr>
          <a:xfrm>
            <a:off x="4622740" y="3548884"/>
            <a:ext cx="32625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8"/>
          </p:nvPr>
        </p:nvSpPr>
        <p:spPr>
          <a:xfrm>
            <a:off x="4622740" y="3809884"/>
            <a:ext cx="30408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9" hasCustomPrompt="1"/>
          </p:nvPr>
        </p:nvSpPr>
        <p:spPr>
          <a:xfrm>
            <a:off x="3789475" y="1481950"/>
            <a:ext cx="7410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3" hasCustomPrompt="1"/>
          </p:nvPr>
        </p:nvSpPr>
        <p:spPr>
          <a:xfrm>
            <a:off x="3796225" y="2223575"/>
            <a:ext cx="727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14" hasCustomPrompt="1"/>
          </p:nvPr>
        </p:nvSpPr>
        <p:spPr>
          <a:xfrm>
            <a:off x="3789475" y="2940275"/>
            <a:ext cx="7410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5" hasCustomPrompt="1"/>
          </p:nvPr>
        </p:nvSpPr>
        <p:spPr>
          <a:xfrm>
            <a:off x="3789475" y="3680075"/>
            <a:ext cx="7410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Lato"/>
              <a:buNone/>
              <a:defRPr sz="3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/>
          <p:nvPr/>
        </p:nvSpPr>
        <p:spPr>
          <a:xfrm>
            <a:off x="7785300" y="2121300"/>
            <a:ext cx="900900" cy="900900"/>
          </a:xfrm>
          <a:prstGeom prst="flowChartOr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16850+1964↓1516⦽2260⋂0◻3165⦰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9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01" name="Google Shape;201;p21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1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1"/>
          <p:cNvSpPr txBox="1">
            <a:spLocks noGrp="1"/>
          </p:cNvSpPr>
          <p:nvPr>
            <p:ph type="title" idx="2"/>
          </p:nvPr>
        </p:nvSpPr>
        <p:spPr>
          <a:xfrm>
            <a:off x="797600" y="185220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1"/>
          </p:nvPr>
        </p:nvSpPr>
        <p:spPr>
          <a:xfrm>
            <a:off x="860300" y="211320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title" idx="3"/>
          </p:nvPr>
        </p:nvSpPr>
        <p:spPr>
          <a:xfrm>
            <a:off x="3647550" y="185220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4"/>
          </p:nvPr>
        </p:nvSpPr>
        <p:spPr>
          <a:xfrm>
            <a:off x="3710250" y="211320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title" idx="5"/>
          </p:nvPr>
        </p:nvSpPr>
        <p:spPr>
          <a:xfrm>
            <a:off x="6497500" y="185220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6"/>
          </p:nvPr>
        </p:nvSpPr>
        <p:spPr>
          <a:xfrm>
            <a:off x="6560200" y="211320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title" idx="7"/>
          </p:nvPr>
        </p:nvSpPr>
        <p:spPr>
          <a:xfrm>
            <a:off x="2222575" y="330505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8"/>
          </p:nvPr>
        </p:nvSpPr>
        <p:spPr>
          <a:xfrm>
            <a:off x="2285275" y="356605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title" idx="9"/>
          </p:nvPr>
        </p:nvSpPr>
        <p:spPr>
          <a:xfrm>
            <a:off x="5078995" y="330505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2" name="Google Shape;212;p21"/>
          <p:cNvSpPr txBox="1">
            <a:spLocks noGrp="1"/>
          </p:cNvSpPr>
          <p:nvPr>
            <p:ph type="subTitle" idx="13"/>
          </p:nvPr>
        </p:nvSpPr>
        <p:spPr>
          <a:xfrm>
            <a:off x="5141695" y="356605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0" y="4264700"/>
            <a:ext cx="9144000" cy="87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495037" y="703618"/>
            <a:ext cx="995400" cy="1015200"/>
          </a:xfrm>
          <a:prstGeom prst="plus">
            <a:avLst>
              <a:gd name="adj" fmla="val 3630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16850+1964↓1516⦽2260⋂0◻3165⦰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" name="Google Shape;217;p22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2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" name="Google Shape;219;p22"/>
          <p:cNvSpPr/>
          <p:nvPr/>
        </p:nvSpPr>
        <p:spPr>
          <a:xfrm rot="1799813">
            <a:off x="1804460" y="-1344350"/>
            <a:ext cx="939088" cy="783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2"/>
          <p:cNvSpPr/>
          <p:nvPr/>
        </p:nvSpPr>
        <p:spPr>
          <a:xfrm rot="-1799813" flipH="1">
            <a:off x="1804460" y="-1344350"/>
            <a:ext cx="939088" cy="783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2"/>
          <p:cNvSpPr txBox="1">
            <a:spLocks noGrp="1"/>
          </p:cNvSpPr>
          <p:nvPr>
            <p:ph type="title"/>
          </p:nvPr>
        </p:nvSpPr>
        <p:spPr>
          <a:xfrm>
            <a:off x="561969" y="2346900"/>
            <a:ext cx="2808000" cy="44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2"/>
          <p:cNvSpPr txBox="1">
            <a:spLocks noGrp="1"/>
          </p:cNvSpPr>
          <p:nvPr>
            <p:ph type="title" idx="2"/>
          </p:nvPr>
        </p:nvSpPr>
        <p:spPr>
          <a:xfrm>
            <a:off x="6356131" y="81500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3" name="Google Shape;223;p22"/>
          <p:cNvSpPr txBox="1">
            <a:spLocks noGrp="1"/>
          </p:cNvSpPr>
          <p:nvPr>
            <p:ph type="subTitle" idx="1"/>
          </p:nvPr>
        </p:nvSpPr>
        <p:spPr>
          <a:xfrm>
            <a:off x="6418831" y="107600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2"/>
          <p:cNvSpPr txBox="1">
            <a:spLocks noGrp="1"/>
          </p:cNvSpPr>
          <p:nvPr>
            <p:ph type="title" idx="3"/>
          </p:nvPr>
        </p:nvSpPr>
        <p:spPr>
          <a:xfrm>
            <a:off x="6356131" y="215655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5" name="Google Shape;225;p22"/>
          <p:cNvSpPr txBox="1">
            <a:spLocks noGrp="1"/>
          </p:cNvSpPr>
          <p:nvPr>
            <p:ph type="subTitle" idx="4"/>
          </p:nvPr>
        </p:nvSpPr>
        <p:spPr>
          <a:xfrm>
            <a:off x="6418831" y="241755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2"/>
          <p:cNvSpPr txBox="1">
            <a:spLocks noGrp="1"/>
          </p:cNvSpPr>
          <p:nvPr>
            <p:ph type="title" idx="5"/>
          </p:nvPr>
        </p:nvSpPr>
        <p:spPr>
          <a:xfrm>
            <a:off x="6356131" y="349810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subTitle" idx="6"/>
          </p:nvPr>
        </p:nvSpPr>
        <p:spPr>
          <a:xfrm>
            <a:off x="6418831" y="375910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title" idx="7"/>
          </p:nvPr>
        </p:nvSpPr>
        <p:spPr>
          <a:xfrm>
            <a:off x="4507231" y="81500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subTitle" idx="8"/>
          </p:nvPr>
        </p:nvSpPr>
        <p:spPr>
          <a:xfrm>
            <a:off x="4569931" y="107600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title" idx="9"/>
          </p:nvPr>
        </p:nvSpPr>
        <p:spPr>
          <a:xfrm>
            <a:off x="4507231" y="215655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subTitle" idx="13"/>
          </p:nvPr>
        </p:nvSpPr>
        <p:spPr>
          <a:xfrm>
            <a:off x="4569931" y="241755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title" idx="14"/>
          </p:nvPr>
        </p:nvSpPr>
        <p:spPr>
          <a:xfrm>
            <a:off x="4507231" y="3498105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subTitle" idx="15"/>
          </p:nvPr>
        </p:nvSpPr>
        <p:spPr>
          <a:xfrm>
            <a:off x="4569931" y="3759105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8205025" y="0"/>
            <a:ext cx="93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_E550+1&amp;934↓15⦰16⦽3+84-/3165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7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24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24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24"/>
          <p:cNvSpPr/>
          <p:nvPr/>
        </p:nvSpPr>
        <p:spPr>
          <a:xfrm>
            <a:off x="239375" y="222300"/>
            <a:ext cx="4698900" cy="4698900"/>
          </a:xfrm>
          <a:prstGeom prst="flowChartOr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7959175" y="0"/>
            <a:ext cx="11847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4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16850+1964↓1516⦽2260⋂0◻3165⦰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 flipH="1">
            <a:off x="5062025" y="1844198"/>
            <a:ext cx="2808000" cy="44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body" idx="1"/>
          </p:nvPr>
        </p:nvSpPr>
        <p:spPr>
          <a:xfrm flipH="1">
            <a:off x="5061986" y="2307800"/>
            <a:ext cx="28080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p27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7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27"/>
          <p:cNvSpPr/>
          <p:nvPr/>
        </p:nvSpPr>
        <p:spPr>
          <a:xfrm flipH="1">
            <a:off x="8026925" y="0"/>
            <a:ext cx="11277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7"/>
          <p:cNvSpPr/>
          <p:nvPr/>
        </p:nvSpPr>
        <p:spPr>
          <a:xfrm>
            <a:off x="-13650" y="4270200"/>
            <a:ext cx="1009800" cy="8733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7"/>
          <p:cNvSpPr/>
          <p:nvPr/>
        </p:nvSpPr>
        <p:spPr>
          <a:xfrm rot="-2700000">
            <a:off x="4786605" y="-65449"/>
            <a:ext cx="1652933" cy="1686025"/>
          </a:xfrm>
          <a:prstGeom prst="plus">
            <a:avLst>
              <a:gd name="adj" fmla="val 36302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7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7t-50+1960◻3165⦰+9/P49+€260⋂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5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28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8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28"/>
          <p:cNvSpPr/>
          <p:nvPr/>
        </p:nvSpPr>
        <p:spPr>
          <a:xfrm>
            <a:off x="8070225" y="1727425"/>
            <a:ext cx="1074000" cy="1074000"/>
          </a:xfrm>
          <a:prstGeom prst="flowChartSummingJunction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0" y="0"/>
            <a:ext cx="1520400" cy="152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8"/>
          <p:cNvSpPr/>
          <p:nvPr/>
        </p:nvSpPr>
        <p:spPr>
          <a:xfrm flipH="1">
            <a:off x="100" y="4263600"/>
            <a:ext cx="9144000" cy="87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8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1960◻749+€260⋂t-505⦰+9/P+316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6F6F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07200" y="1152475"/>
            <a:ext cx="772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 sz="1800"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7" r:id="rId4"/>
    <p:sldLayoutId id="2147483658" r:id="rId5"/>
    <p:sldLayoutId id="2147483659" r:id="rId6"/>
    <p:sldLayoutId id="2147483667" r:id="rId7"/>
    <p:sldLayoutId id="2147483668" r:id="rId8"/>
    <p:sldLayoutId id="2147483670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microsoft.com/office/2007/relationships/hdphoto" Target="../media/hdphoto6.wdp"/><Relationship Id="rId5" Type="http://schemas.openxmlformats.org/officeDocument/2006/relationships/image" Target="../media/image8.png"/><Relationship Id="rId4" Type="http://schemas.microsoft.com/office/2007/relationships/hdphoto" Target="../media/hdphoto5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microsoft.com/office/2007/relationships/hdphoto" Target="../media/hdphoto7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/>
          <p:nvPr/>
        </p:nvSpPr>
        <p:spPr>
          <a:xfrm>
            <a:off x="7401146" y="1"/>
            <a:ext cx="1742700" cy="1745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-3" y="4050700"/>
            <a:ext cx="1287000" cy="1113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ctrTitle"/>
          </p:nvPr>
        </p:nvSpPr>
        <p:spPr>
          <a:xfrm>
            <a:off x="762000" y="1276350"/>
            <a:ext cx="8001000" cy="227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3600" b="1" dirty="0" smtClean="0">
                <a:latin typeface="Roboto"/>
                <a:ea typeface="Roboto"/>
                <a:cs typeface="Roboto"/>
                <a:sym typeface="Roboto"/>
              </a:rPr>
              <a:t>Употреба </a:t>
            </a:r>
            <a:r>
              <a:rPr lang="sr-Cyrl-RS" sz="3600" b="1" dirty="0" smtClean="0">
                <a:latin typeface="Roboto"/>
                <a:ea typeface="Roboto"/>
                <a:cs typeface="Roboto"/>
                <a:sym typeface="Roboto"/>
              </a:rPr>
              <a:t>програмирања </a:t>
            </a:r>
            <a:r>
              <a:rPr lang="sr-Cyrl-RS" sz="3600" b="1" dirty="0" smtClean="0">
                <a:latin typeface="Roboto"/>
                <a:ea typeface="Roboto"/>
                <a:cs typeface="Roboto"/>
                <a:sym typeface="Roboto"/>
              </a:rPr>
              <a:t>ограничења (</a:t>
            </a:r>
            <a:r>
              <a:rPr lang="sr-Latn-RS" sz="3600" b="1" dirty="0" smtClean="0">
                <a:latin typeface="Roboto"/>
                <a:ea typeface="Roboto"/>
                <a:cs typeface="Roboto"/>
                <a:sym typeface="Roboto"/>
              </a:rPr>
              <a:t>CLP</a:t>
            </a:r>
            <a:r>
              <a:rPr lang="sr-Cyrl-RS" sz="3600" b="1" dirty="0" smtClean="0">
                <a:latin typeface="Roboto"/>
                <a:ea typeface="Roboto"/>
                <a:cs typeface="Roboto"/>
                <a:sym typeface="Roboto"/>
              </a:rPr>
              <a:t>) у програмским језицима треће генерације</a:t>
            </a:r>
            <a:endParaRPr sz="3600"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3"/>
          <p:cNvSpPr txBox="1">
            <a:spLocks noGrp="1"/>
          </p:cNvSpPr>
          <p:nvPr>
            <p:ph type="subTitle" idx="1"/>
          </p:nvPr>
        </p:nvSpPr>
        <p:spPr>
          <a:xfrm>
            <a:off x="694050" y="3502300"/>
            <a:ext cx="7743900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2000" dirty="0" smtClean="0"/>
              <a:t>Леа Ирт 4ц</a:t>
            </a:r>
            <a:endParaRPr sz="2000" dirty="0">
              <a:solidFill>
                <a:srgbClr val="000000"/>
              </a:solidFill>
            </a:endParaRPr>
          </a:p>
        </p:txBody>
      </p:sp>
      <p:cxnSp>
        <p:nvCxnSpPr>
          <p:cNvPr id="297" name="Google Shape;297;p33">
            <a:hlinkClick r:id="" action="ppaction://hlinkshowjump?jump=nextslide"/>
          </p:cNvPr>
          <p:cNvCxnSpPr/>
          <p:nvPr/>
        </p:nvCxnSpPr>
        <p:spPr>
          <a:xfrm>
            <a:off x="80335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8" name="Google Shape;298;p33"/>
          <p:cNvSpPr/>
          <p:nvPr/>
        </p:nvSpPr>
        <p:spPr>
          <a:xfrm>
            <a:off x="572525" y="221101"/>
            <a:ext cx="1113000" cy="111300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3"/>
          <p:cNvSpPr/>
          <p:nvPr/>
        </p:nvSpPr>
        <p:spPr>
          <a:xfrm>
            <a:off x="5217075" y="3934725"/>
            <a:ext cx="759300" cy="759300"/>
          </a:xfrm>
          <a:prstGeom prst="mathMultiply">
            <a:avLst>
              <a:gd name="adj1" fmla="val 2352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/>
          <p:nvPr/>
        </p:nvSpPr>
        <p:spPr>
          <a:xfrm>
            <a:off x="4553768" y="942154"/>
            <a:ext cx="1181025" cy="1186625"/>
          </a:xfrm>
          <a:prstGeom prst="flowChartDecision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7"/>
          <p:cNvSpPr txBox="1">
            <a:spLocks noGrp="1"/>
          </p:cNvSpPr>
          <p:nvPr>
            <p:ph type="title" idx="2"/>
          </p:nvPr>
        </p:nvSpPr>
        <p:spPr>
          <a:xfrm>
            <a:off x="4578671" y="957975"/>
            <a:ext cx="1257000" cy="115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40" name="Google Shape;340;p37"/>
          <p:cNvSpPr txBox="1">
            <a:spLocks noGrp="1"/>
          </p:cNvSpPr>
          <p:nvPr>
            <p:ph type="subTitle" idx="1"/>
          </p:nvPr>
        </p:nvSpPr>
        <p:spPr>
          <a:xfrm>
            <a:off x="4575658" y="3496025"/>
            <a:ext cx="3562446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sz="1400" dirty="0">
                <a:solidFill>
                  <a:schemeClr val="dk1"/>
                </a:solidFill>
              </a:rPr>
              <a:t>Л</a:t>
            </a:r>
            <a:r>
              <a:rPr lang="ru-RU" sz="1400" dirty="0" smtClean="0">
                <a:solidFill>
                  <a:schemeClr val="dk1"/>
                </a:solidFill>
              </a:rPr>
              <a:t>огички </a:t>
            </a:r>
            <a:r>
              <a:rPr lang="ru-RU" sz="1400" dirty="0">
                <a:solidFill>
                  <a:schemeClr val="dk1"/>
                </a:solidFill>
              </a:rPr>
              <a:t>проблеми код коjих су правила и исходи прецизно математички дефинисани</a:t>
            </a:r>
            <a:endParaRPr sz="1400" dirty="0"/>
          </a:p>
        </p:txBody>
      </p:sp>
      <p:sp>
        <p:nvSpPr>
          <p:cNvPr id="342" name="Google Shape;342;p37"/>
          <p:cNvSpPr txBox="1">
            <a:spLocks noGrp="1"/>
          </p:cNvSpPr>
          <p:nvPr>
            <p:ph type="title"/>
          </p:nvPr>
        </p:nvSpPr>
        <p:spPr>
          <a:xfrm>
            <a:off x="4591610" y="1808200"/>
            <a:ext cx="3363900" cy="18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Математичке игре</a:t>
            </a:r>
            <a:endParaRPr dirty="0"/>
          </a:p>
        </p:txBody>
      </p:sp>
      <p:cxnSp>
        <p:nvCxnSpPr>
          <p:cNvPr id="343" name="Google Shape;343;p37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4" name="Google Shape;344;p37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5" name="Google Shape;345;p37"/>
          <p:cNvSpPr/>
          <p:nvPr/>
        </p:nvSpPr>
        <p:spPr>
          <a:xfrm>
            <a:off x="2273150" y="794475"/>
            <a:ext cx="759300" cy="7593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116" t="-47" r="16158" b="47"/>
          <a:stretch/>
        </p:blipFill>
        <p:spPr>
          <a:xfrm>
            <a:off x="0" y="-8077"/>
            <a:ext cx="3531410" cy="5151577"/>
          </a:xfrm>
          <a:prstGeom prst="rect">
            <a:avLst/>
          </a:prstGeom>
        </p:spPr>
      </p:pic>
      <p:cxnSp>
        <p:nvCxnSpPr>
          <p:cNvPr id="346" name="Google Shape;346;p37"/>
          <p:cNvCxnSpPr/>
          <p:nvPr/>
        </p:nvCxnSpPr>
        <p:spPr>
          <a:xfrm rot="10800000">
            <a:off x="491250" y="2400"/>
            <a:ext cx="0" cy="5141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37"/>
          <p:cNvCxnSpPr/>
          <p:nvPr/>
        </p:nvCxnSpPr>
        <p:spPr>
          <a:xfrm rot="10800000">
            <a:off x="-13350" y="543525"/>
            <a:ext cx="9170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8" name="Google Shape;348;p37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1960◻749+€260⋂t-505⦰+9/P+316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35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Криптоаритметички проблеми</a:t>
            </a:r>
            <a:endParaRPr dirty="0"/>
          </a:p>
        </p:txBody>
      </p:sp>
      <p:cxnSp>
        <p:nvCxnSpPr>
          <p:cNvPr id="324" name="Google Shape;324;p3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26" t="16778" r="15573" b="7015"/>
          <a:stretch/>
        </p:blipFill>
        <p:spPr>
          <a:xfrm>
            <a:off x="2036064" y="1352550"/>
            <a:ext cx="3642969" cy="281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35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Судоку</a:t>
            </a:r>
            <a:endParaRPr dirty="0"/>
          </a:p>
        </p:txBody>
      </p:sp>
      <p:cxnSp>
        <p:nvCxnSpPr>
          <p:cNvPr id="324" name="Google Shape;324;p3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072" y="1287399"/>
            <a:ext cx="3036951" cy="303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9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35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Какуро</a:t>
            </a:r>
            <a:endParaRPr dirty="0"/>
          </a:p>
        </p:txBody>
      </p:sp>
      <p:cxnSp>
        <p:nvCxnSpPr>
          <p:cNvPr id="324" name="Google Shape;324;p3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189"/>
          <a:stretch/>
        </p:blipFill>
        <p:spPr>
          <a:xfrm>
            <a:off x="2260368" y="1276623"/>
            <a:ext cx="3194360" cy="320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3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35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Магични квадрати</a:t>
            </a:r>
            <a:endParaRPr dirty="0"/>
          </a:p>
        </p:txBody>
      </p:sp>
      <p:cxnSp>
        <p:nvCxnSpPr>
          <p:cNvPr id="324" name="Google Shape;324;p3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Rectangle 2"/>
          <p:cNvSpPr/>
          <p:nvPr/>
        </p:nvSpPr>
        <p:spPr>
          <a:xfrm>
            <a:off x="956682" y="1352550"/>
            <a:ext cx="5825118" cy="2819400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428" y="1771650"/>
            <a:ext cx="5107626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2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35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Магични шестоугао</a:t>
            </a:r>
            <a:endParaRPr dirty="0"/>
          </a:p>
        </p:txBody>
      </p:sp>
      <p:cxnSp>
        <p:nvCxnSpPr>
          <p:cNvPr id="324" name="Google Shape;324;p3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/>
          <p:cNvSpPr/>
          <p:nvPr/>
        </p:nvSpPr>
        <p:spPr>
          <a:xfrm>
            <a:off x="2362200" y="1352550"/>
            <a:ext cx="3048000" cy="2819400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632" y="1688020"/>
            <a:ext cx="2320568" cy="214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9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48000" y="1317650"/>
            <a:ext cx="1481718" cy="1409700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cxnSp>
        <p:nvCxnSpPr>
          <p:cNvPr id="311" name="Google Shape;311;p35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Ајнштајнова загонетка</a:t>
            </a:r>
            <a:endParaRPr dirty="0"/>
          </a:p>
        </p:txBody>
      </p:sp>
      <p:cxnSp>
        <p:nvCxnSpPr>
          <p:cNvPr id="324" name="Google Shape;324;p3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92277"/>
            <a:ext cx="2540295" cy="2540295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545" y="1692277"/>
            <a:ext cx="3962400" cy="2540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181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" name="Google Shape;819;p60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0" name="Google Shape;820;p60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 rot="2613481">
            <a:off x="3751996" y="814551"/>
            <a:ext cx="824602" cy="82460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9" name="Google Shape;339;p37"/>
          <p:cNvSpPr txBox="1">
            <a:spLocks/>
          </p:cNvSpPr>
          <p:nvPr/>
        </p:nvSpPr>
        <p:spPr>
          <a:xfrm>
            <a:off x="3581400" y="654750"/>
            <a:ext cx="1257000" cy="11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" dirty="0" smtClean="0"/>
              <a:t>0</a:t>
            </a:r>
            <a:r>
              <a:rPr lang="sr-Latn-RS" dirty="0"/>
              <a:t>2</a:t>
            </a:r>
            <a:endParaRPr lang="en" dirty="0"/>
          </a:p>
        </p:txBody>
      </p:sp>
      <p:sp>
        <p:nvSpPr>
          <p:cNvPr id="10" name="Google Shape;342;p37"/>
          <p:cNvSpPr txBox="1">
            <a:spLocks noGrp="1"/>
          </p:cNvSpPr>
          <p:nvPr>
            <p:ph type="title"/>
          </p:nvPr>
        </p:nvSpPr>
        <p:spPr>
          <a:xfrm>
            <a:off x="4876800" y="361950"/>
            <a:ext cx="3363900" cy="18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 smtClean="0"/>
              <a:t>Prolog </a:t>
            </a:r>
            <a:r>
              <a:rPr lang="sr-Cyrl-RS" sz="3800" dirty="0" smtClean="0"/>
              <a:t>и</a:t>
            </a:r>
            <a:r>
              <a:rPr lang="en-US" sz="3800" dirty="0" smtClean="0"/>
              <a:t> CLP</a:t>
            </a:r>
            <a:endParaRPr sz="3800" dirty="0"/>
          </a:p>
        </p:txBody>
      </p:sp>
      <p:sp>
        <p:nvSpPr>
          <p:cNvPr id="11" name="Google Shape;340;p37"/>
          <p:cNvSpPr txBox="1">
            <a:spLocks/>
          </p:cNvSpPr>
          <p:nvPr/>
        </p:nvSpPr>
        <p:spPr>
          <a:xfrm>
            <a:off x="3352800" y="2114550"/>
            <a:ext cx="5105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 algn="l">
              <a:buFont typeface="Wingdings" pitchFamily="2" charset="2"/>
              <a:buChar char="§"/>
            </a:pPr>
            <a:r>
              <a:rPr lang="sr-Latn-RS" sz="1400" b="1" dirty="0" smtClean="0">
                <a:solidFill>
                  <a:schemeClr val="dk1"/>
                </a:solidFill>
              </a:rPr>
              <a:t>Prolog</a:t>
            </a:r>
            <a:r>
              <a:rPr lang="sr-Latn-RS" sz="1400" dirty="0" smtClean="0">
                <a:solidFill>
                  <a:schemeClr val="dk1"/>
                </a:solidFill>
              </a:rPr>
              <a:t> </a:t>
            </a:r>
            <a:r>
              <a:rPr lang="ru-RU" sz="1400" dirty="0" smtClean="0">
                <a:solidFill>
                  <a:schemeClr val="dk1"/>
                </a:solidFill>
              </a:rPr>
              <a:t>је програмски језик пете генерације који омогућава решавање проблема без експлицитног навођења алгоритма.</a:t>
            </a:r>
            <a:r>
              <a:rPr lang="ru-RU" sz="1400" dirty="0" smtClean="0"/>
              <a:t> Довољно је дескриптивно описати проблем, а </a:t>
            </a:r>
            <a:r>
              <a:rPr lang="sr-Latn-RS" sz="1400" dirty="0" smtClean="0"/>
              <a:t>Prolog</a:t>
            </a:r>
            <a:r>
              <a:rPr lang="ru-RU" sz="1400" dirty="0" smtClean="0"/>
              <a:t> га даље решава </a:t>
            </a:r>
            <a:r>
              <a:rPr lang="ru-RU" sz="1400" dirty="0" smtClean="0"/>
              <a:t>употребом вештачке </a:t>
            </a:r>
            <a:r>
              <a:rPr lang="ru-RU" sz="1400" dirty="0" smtClean="0"/>
              <a:t>интелигенције.</a:t>
            </a:r>
            <a:endParaRPr lang="ru-RU" sz="1400" dirty="0" smtClean="0">
              <a:solidFill>
                <a:schemeClr val="dk1"/>
              </a:solidFill>
            </a:endParaRPr>
          </a:p>
          <a:p>
            <a:pPr marL="285750" indent="-285750" algn="l">
              <a:buFont typeface="Wingdings" pitchFamily="2" charset="2"/>
              <a:buChar char="§"/>
            </a:pPr>
            <a:r>
              <a:rPr lang="ru-RU" sz="1400" dirty="0" smtClean="0">
                <a:solidFill>
                  <a:schemeClr val="dk1"/>
                </a:solidFill>
              </a:rPr>
              <a:t>У оквиру </a:t>
            </a:r>
            <a:r>
              <a:rPr lang="sr-Latn-RS" sz="1400" dirty="0" smtClean="0"/>
              <a:t>Prolog</a:t>
            </a:r>
            <a:r>
              <a:rPr lang="sr-Cyrl-RS" sz="1400" dirty="0" smtClean="0"/>
              <a:t>-</a:t>
            </a:r>
            <a:r>
              <a:rPr lang="ru-RU" sz="1400" dirty="0" smtClean="0"/>
              <a:t>а </a:t>
            </a:r>
            <a:r>
              <a:rPr lang="ru-RU" sz="1400" dirty="0" smtClean="0">
                <a:solidFill>
                  <a:schemeClr val="dk1"/>
                </a:solidFill>
              </a:rPr>
              <a:t>постоји </a:t>
            </a:r>
            <a:r>
              <a:rPr lang="sr-Latn-RS" sz="1400" b="1" dirty="0" smtClean="0">
                <a:solidFill>
                  <a:schemeClr val="dk1"/>
                </a:solidFill>
              </a:rPr>
              <a:t>CLP</a:t>
            </a:r>
            <a:r>
              <a:rPr lang="sr-Latn-RS" sz="1400" dirty="0" smtClean="0">
                <a:solidFill>
                  <a:schemeClr val="dk1"/>
                </a:solidFill>
              </a:rPr>
              <a:t> </a:t>
            </a:r>
            <a:r>
              <a:rPr lang="ru-RU" sz="1400" dirty="0" smtClean="0">
                <a:solidFill>
                  <a:schemeClr val="dk1"/>
                </a:solidFill>
              </a:rPr>
              <a:t>(</a:t>
            </a:r>
            <a:r>
              <a:rPr lang="sr-Latn-RS" sz="1400" dirty="0" smtClean="0">
                <a:solidFill>
                  <a:schemeClr val="dk1"/>
                </a:solidFill>
              </a:rPr>
              <a:t>constraint logic programming</a:t>
            </a:r>
            <a:r>
              <a:rPr lang="ru-RU" sz="1400" dirty="0" smtClean="0">
                <a:solidFill>
                  <a:schemeClr val="dk1"/>
                </a:solidFill>
              </a:rPr>
              <a:t>) који дозвољава и коришћење ограничења. 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ru-RU" sz="1400" dirty="0" smtClean="0">
                <a:solidFill>
                  <a:schemeClr val="dk1"/>
                </a:solidFill>
              </a:rPr>
              <a:t>Математичке игре врло је једноставно решавати помоћу програмирања ограничења.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Пример</a:t>
            </a:r>
            <a:r>
              <a:rPr lang="en-US" dirty="0" smtClean="0"/>
              <a:t> CLP</a:t>
            </a:r>
            <a:r>
              <a:rPr lang="sr-Cyrl-RS" dirty="0" smtClean="0"/>
              <a:t> програма у </a:t>
            </a:r>
            <a:r>
              <a:rPr lang="en-US" dirty="0" smtClean="0"/>
              <a:t>Prolog</a:t>
            </a:r>
            <a:r>
              <a:rPr lang="sr-Cyrl-RS" dirty="0" smtClean="0"/>
              <a:t>-у</a:t>
            </a:r>
            <a:endParaRPr dirty="0"/>
          </a:p>
        </p:txBody>
      </p:sp>
      <p:cxnSp>
        <p:nvCxnSpPr>
          <p:cNvPr id="459" name="Google Shape;459;p44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2" name="Google Shape;462;p44"/>
          <p:cNvSpPr/>
          <p:nvPr/>
        </p:nvSpPr>
        <p:spPr>
          <a:xfrm>
            <a:off x="6921225" y="343800"/>
            <a:ext cx="971700" cy="971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4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1⦽6850+1226⦰↓10⋂5169640◻3165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1352550"/>
            <a:ext cx="525015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800" dirty="0">
                <a:latin typeface="Consolas" pitchFamily="49" charset="0"/>
                <a:cs typeface="Courier New" pitchFamily="49" charset="0"/>
              </a:rPr>
              <a:t>:- use_module(library(clpfd)).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/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solve([S,E,N,D],[M,O,R,E],[M,O,N,E,Y]):-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= [S,E,N,D,M,O,R,Y],      </a:t>
            </a:r>
            <a:r>
              <a:rPr lang="sr-Latn-RS" sz="1800" dirty="0" smtClean="0">
                <a:latin typeface="Consolas" pitchFamily="49" charset="0"/>
                <a:cs typeface="Courier New" pitchFamily="49" charset="0"/>
              </a:rPr>
              <a:t> </a:t>
            </a:r>
            <a:br>
              <a:rPr lang="sr-Latn-RS" sz="1800" dirty="0" smtClean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ins 0..9,      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all_different(Vars),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1000*S + 100*E + 10*N + D +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1000*M + 100*O + 10*R + E #=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10000*M + 1000*O + 100*N + 10*E + Y,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S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M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labeling([], Vars).</a:t>
            </a:r>
          </a:p>
        </p:txBody>
      </p:sp>
      <p:sp>
        <p:nvSpPr>
          <p:cNvPr id="22" name="Google Shape;461;p44"/>
          <p:cNvSpPr/>
          <p:nvPr/>
        </p:nvSpPr>
        <p:spPr>
          <a:xfrm rot="811516">
            <a:off x="8253482" y="4010891"/>
            <a:ext cx="688755" cy="937528"/>
          </a:xfrm>
          <a:prstGeom prst="lightningBol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Пример</a:t>
            </a:r>
            <a:r>
              <a:rPr lang="en-US" dirty="0" smtClean="0"/>
              <a:t> CLP</a:t>
            </a:r>
            <a:r>
              <a:rPr lang="sr-Cyrl-RS" dirty="0" smtClean="0"/>
              <a:t> програма у </a:t>
            </a:r>
            <a:r>
              <a:rPr lang="en-US" dirty="0" smtClean="0"/>
              <a:t>Prolog</a:t>
            </a:r>
            <a:r>
              <a:rPr lang="sr-Cyrl-RS" dirty="0" smtClean="0"/>
              <a:t>-у</a:t>
            </a:r>
            <a:endParaRPr dirty="0"/>
          </a:p>
        </p:txBody>
      </p:sp>
      <p:cxnSp>
        <p:nvCxnSpPr>
          <p:cNvPr id="459" name="Google Shape;459;p44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2" name="Google Shape;462;p44"/>
          <p:cNvSpPr/>
          <p:nvPr/>
        </p:nvSpPr>
        <p:spPr>
          <a:xfrm>
            <a:off x="6921225" y="343800"/>
            <a:ext cx="971700" cy="971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4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1⦽6850+1226⦰↓10⋂5169640◻3165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1352550"/>
            <a:ext cx="525015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800" dirty="0">
                <a:latin typeface="Consolas" pitchFamily="49" charset="0"/>
                <a:cs typeface="Courier New" pitchFamily="49" charset="0"/>
              </a:rPr>
              <a:t>:- use_module(library(clpfd)).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/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solve([S,E,N,D],[M,O,R,E],[M,O,N,E,Y]):-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= [S,E,N,D,M,O,R,Y],      </a:t>
            </a:r>
            <a:r>
              <a:rPr lang="sr-Latn-RS" sz="1800" dirty="0" smtClean="0">
                <a:latin typeface="Consolas" pitchFamily="49" charset="0"/>
                <a:cs typeface="Courier New" pitchFamily="49" charset="0"/>
              </a:rPr>
              <a:t> </a:t>
            </a:r>
            <a:br>
              <a:rPr lang="sr-Latn-RS" sz="1800" dirty="0" smtClean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ins 0..9,      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all_different(Vars),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1000*S + 100*E + 10*N + D +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1000*M + 100*O + 10*R + E #=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10000*M + 1000*O + 100*N + 10*E + Y,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S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M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labeling([], Vars).</a:t>
            </a:r>
          </a:p>
        </p:txBody>
      </p:sp>
      <p:sp>
        <p:nvSpPr>
          <p:cNvPr id="22" name="Google Shape;461;p44"/>
          <p:cNvSpPr/>
          <p:nvPr/>
        </p:nvSpPr>
        <p:spPr>
          <a:xfrm rot="811516">
            <a:off x="8253482" y="4010891"/>
            <a:ext cx="688755" cy="937528"/>
          </a:xfrm>
          <a:prstGeom prst="lightningBol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" name="Google Shape;457;p44"/>
          <p:cNvCxnSpPr/>
          <p:nvPr/>
        </p:nvCxnSpPr>
        <p:spPr>
          <a:xfrm flipV="1">
            <a:off x="4640911" y="1256250"/>
            <a:ext cx="1752600" cy="286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Rectangle 5"/>
          <p:cNvSpPr/>
          <p:nvPr/>
        </p:nvSpPr>
        <p:spPr>
          <a:xfrm>
            <a:off x="685800" y="1352550"/>
            <a:ext cx="3962400" cy="3810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15" name="Google Shape;450;p44"/>
          <p:cNvSpPr txBox="1">
            <a:spLocks/>
          </p:cNvSpPr>
          <p:nvPr/>
        </p:nvSpPr>
        <p:spPr>
          <a:xfrm>
            <a:off x="6393512" y="1047750"/>
            <a:ext cx="244568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200"/>
              </a:spcAft>
              <a:buFont typeface="Lato"/>
              <a:buNone/>
            </a:pPr>
            <a:r>
              <a:rPr lang="sr-Cyrl-RS" sz="1400" dirty="0" smtClean="0">
                <a:solidFill>
                  <a:schemeClr val="accent5">
                    <a:lumMod val="75000"/>
                  </a:schemeClr>
                </a:solidFill>
              </a:rPr>
              <a:t>Овом наредном се најављује коришћење </a:t>
            </a:r>
            <a:r>
              <a:rPr lang="en-GB" sz="1400" dirty="0" smtClean="0">
                <a:solidFill>
                  <a:schemeClr val="accent5">
                    <a:lumMod val="75000"/>
                  </a:schemeClr>
                </a:solidFill>
              </a:rPr>
              <a:t>CLP</a:t>
            </a:r>
            <a:r>
              <a:rPr lang="sr-Cyrl-RS" sz="1400" dirty="0" smtClean="0">
                <a:solidFill>
                  <a:schemeClr val="accent5">
                    <a:lumMod val="75000"/>
                  </a:schemeClr>
                </a:solidFill>
              </a:rPr>
              <a:t> над коначним доменима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869133" y="2323296"/>
            <a:ext cx="30758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sr-Cyrl-RS" dirty="0">
                <a:solidFill>
                  <a:schemeClr val="tx1"/>
                </a:solidFill>
              </a:rPr>
              <a:t>Обично у свакој </a:t>
            </a:r>
            <a:r>
              <a:rPr lang="en-GB" dirty="0" err="1">
                <a:solidFill>
                  <a:schemeClr val="tx1"/>
                </a:solidFill>
              </a:rPr>
              <a:t>Prolog</a:t>
            </a:r>
            <a:r>
              <a:rPr lang="sr-Cyrl-RS" dirty="0">
                <a:solidFill>
                  <a:schemeClr val="tx1"/>
                </a:solidFill>
              </a:rPr>
              <a:t> имплементацији постоји и </a:t>
            </a:r>
            <a:r>
              <a:rPr lang="en-GB" dirty="0">
                <a:solidFill>
                  <a:schemeClr val="tx1"/>
                </a:solidFill>
              </a:rPr>
              <a:t>CLP </a:t>
            </a:r>
            <a:r>
              <a:rPr lang="sr-Cyrl-RS" dirty="0" smtClean="0">
                <a:solidFill>
                  <a:schemeClr val="tx1"/>
                </a:solidFill>
              </a:rPr>
              <a:t>модул за рад </a:t>
            </a:r>
            <a:r>
              <a:rPr lang="sr-Cyrl-RS" dirty="0">
                <a:solidFill>
                  <a:schemeClr val="tx1"/>
                </a:solidFill>
              </a:rPr>
              <a:t>над реалним доменима </a:t>
            </a:r>
            <a:r>
              <a:rPr lang="sr-Cyrl-RS" dirty="0" smtClean="0">
                <a:solidFill>
                  <a:schemeClr val="tx1"/>
                </a:solidFill>
              </a:rPr>
              <a:t>(</a:t>
            </a:r>
            <a:r>
              <a:rPr lang="en-GB" dirty="0" smtClean="0">
                <a:solidFill>
                  <a:schemeClr val="tx1"/>
                </a:solidFill>
              </a:rPr>
              <a:t>CLPR</a:t>
            </a:r>
            <a:r>
              <a:rPr lang="sr-Cyrl-RS" dirty="0" smtClean="0">
                <a:solidFill>
                  <a:schemeClr val="tx1"/>
                </a:solidFill>
              </a:rPr>
              <a:t>)</a:t>
            </a:r>
            <a:r>
              <a:rPr lang="en-GB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38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Пример</a:t>
            </a:r>
            <a:r>
              <a:rPr lang="en-US" dirty="0" smtClean="0"/>
              <a:t> CLP</a:t>
            </a:r>
            <a:r>
              <a:rPr lang="sr-Cyrl-RS" dirty="0" smtClean="0"/>
              <a:t> програма у </a:t>
            </a:r>
            <a:r>
              <a:rPr lang="en-US" dirty="0" smtClean="0"/>
              <a:t>Prolog</a:t>
            </a:r>
            <a:r>
              <a:rPr lang="sr-Cyrl-RS" dirty="0" smtClean="0"/>
              <a:t>-у</a:t>
            </a:r>
            <a:endParaRPr dirty="0"/>
          </a:p>
        </p:txBody>
      </p:sp>
      <p:cxnSp>
        <p:nvCxnSpPr>
          <p:cNvPr id="459" name="Google Shape;459;p44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2" name="Google Shape;462;p44"/>
          <p:cNvSpPr/>
          <p:nvPr/>
        </p:nvSpPr>
        <p:spPr>
          <a:xfrm>
            <a:off x="6921225" y="343800"/>
            <a:ext cx="971700" cy="971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4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1⦽6850+1226⦰↓10⋂5169640◻3165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1352550"/>
            <a:ext cx="525015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800" dirty="0">
                <a:latin typeface="Consolas" pitchFamily="49" charset="0"/>
                <a:cs typeface="Courier New" pitchFamily="49" charset="0"/>
              </a:rPr>
              <a:t>:- use_module(library(clpfd)).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/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solve([S,E,N,D],[M,O,R,E],[M,O,N,E,Y]):-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= [S,E,N,D,M,O,R,Y],      </a:t>
            </a:r>
            <a:r>
              <a:rPr lang="sr-Latn-RS" sz="1800" dirty="0" smtClean="0">
                <a:latin typeface="Consolas" pitchFamily="49" charset="0"/>
                <a:cs typeface="Courier New" pitchFamily="49" charset="0"/>
              </a:rPr>
              <a:t> </a:t>
            </a:r>
            <a:br>
              <a:rPr lang="sr-Latn-RS" sz="1800" dirty="0" smtClean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ins 0..9,      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all_different(Vars),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1000*S + 100*E + 10*N + D +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1000*M + 100*O + 10*R + E #=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10000*M + 1000*O + 100*N + 10*E + Y,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S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M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labeling([], Vars).</a:t>
            </a:r>
          </a:p>
        </p:txBody>
      </p:sp>
      <p:sp>
        <p:nvSpPr>
          <p:cNvPr id="22" name="Google Shape;461;p44"/>
          <p:cNvSpPr/>
          <p:nvPr/>
        </p:nvSpPr>
        <p:spPr>
          <a:xfrm rot="811516">
            <a:off x="8253482" y="4010891"/>
            <a:ext cx="688755" cy="937528"/>
          </a:xfrm>
          <a:prstGeom prst="lightningBol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" name="Google Shape;457;p44"/>
          <p:cNvCxnSpPr>
            <a:stCxn id="6" idx="3"/>
          </p:cNvCxnSpPr>
          <p:nvPr/>
        </p:nvCxnSpPr>
        <p:spPr>
          <a:xfrm>
            <a:off x="4495800" y="2495550"/>
            <a:ext cx="1873195" cy="304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Rectangle 5"/>
          <p:cNvSpPr/>
          <p:nvPr/>
        </p:nvSpPr>
        <p:spPr>
          <a:xfrm>
            <a:off x="1143000" y="2190750"/>
            <a:ext cx="3352800" cy="6096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15" name="Google Shape;450;p44"/>
          <p:cNvSpPr txBox="1">
            <a:spLocks/>
          </p:cNvSpPr>
          <p:nvPr/>
        </p:nvSpPr>
        <p:spPr>
          <a:xfrm>
            <a:off x="6368995" y="2571750"/>
            <a:ext cx="244568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200"/>
              </a:spcAft>
              <a:buFont typeface="Lato"/>
              <a:buNone/>
            </a:pPr>
            <a:r>
              <a:rPr lang="sr-Cyrl-RS" sz="1400" dirty="0" smtClean="0">
                <a:solidFill>
                  <a:schemeClr val="accent5">
                    <a:lumMod val="75000"/>
                  </a:schemeClr>
                </a:solidFill>
              </a:rPr>
              <a:t>Декларација променљивих и њихових домена</a:t>
            </a:r>
          </a:p>
        </p:txBody>
      </p:sp>
    </p:spTree>
    <p:extLst>
      <p:ext uri="{BB962C8B-B14F-4D97-AF65-F5344CB8AC3E}">
        <p14:creationId xmlns:p14="http://schemas.microsoft.com/office/powerpoint/2010/main" val="1160623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Пример</a:t>
            </a:r>
            <a:r>
              <a:rPr lang="en-US" dirty="0" smtClean="0"/>
              <a:t> CLP</a:t>
            </a:r>
            <a:r>
              <a:rPr lang="sr-Cyrl-RS" dirty="0" smtClean="0"/>
              <a:t> програма у </a:t>
            </a:r>
            <a:r>
              <a:rPr lang="en-US" dirty="0" smtClean="0"/>
              <a:t>Prolog</a:t>
            </a:r>
            <a:r>
              <a:rPr lang="sr-Cyrl-RS" dirty="0" smtClean="0"/>
              <a:t>-у</a:t>
            </a:r>
            <a:endParaRPr dirty="0"/>
          </a:p>
        </p:txBody>
      </p:sp>
      <p:cxnSp>
        <p:nvCxnSpPr>
          <p:cNvPr id="459" name="Google Shape;459;p44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2" name="Google Shape;462;p44"/>
          <p:cNvSpPr/>
          <p:nvPr/>
        </p:nvSpPr>
        <p:spPr>
          <a:xfrm>
            <a:off x="6921225" y="343800"/>
            <a:ext cx="971700" cy="971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4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1⦽6850+1226⦰↓10⋂5169640◻3165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1352550"/>
            <a:ext cx="525015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800" dirty="0">
                <a:latin typeface="Consolas" pitchFamily="49" charset="0"/>
                <a:cs typeface="Courier New" pitchFamily="49" charset="0"/>
              </a:rPr>
              <a:t>:- use_module(library(clpfd)).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/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solve([S,E,N,D],[M,O,R,E],[M,O,N,E,Y]):-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= [S,E,N,D,M,O,R,Y],      </a:t>
            </a:r>
            <a:r>
              <a:rPr lang="sr-Latn-RS" sz="1800" dirty="0" smtClean="0">
                <a:latin typeface="Consolas" pitchFamily="49" charset="0"/>
                <a:cs typeface="Courier New" pitchFamily="49" charset="0"/>
              </a:rPr>
              <a:t> </a:t>
            </a:r>
            <a:br>
              <a:rPr lang="sr-Latn-RS" sz="1800" dirty="0" smtClean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ins 0..9,      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all_different(Vars),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1000*S + 100*E + 10*N + D +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1000*M + 100*O + 10*R + E #=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10000*M + 1000*O + 100*N + 10*E + Y,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S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M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labeling([], Vars).</a:t>
            </a:r>
          </a:p>
        </p:txBody>
      </p:sp>
      <p:sp>
        <p:nvSpPr>
          <p:cNvPr id="22" name="Google Shape;461;p44"/>
          <p:cNvSpPr/>
          <p:nvPr/>
        </p:nvSpPr>
        <p:spPr>
          <a:xfrm rot="811516">
            <a:off x="8253482" y="4010891"/>
            <a:ext cx="688755" cy="937528"/>
          </a:xfrm>
          <a:prstGeom prst="lightningBol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" name="Google Shape;457;p44"/>
          <p:cNvCxnSpPr/>
          <p:nvPr/>
        </p:nvCxnSpPr>
        <p:spPr>
          <a:xfrm flipV="1">
            <a:off x="5935954" y="3299160"/>
            <a:ext cx="693446" cy="286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Rectangle 5"/>
          <p:cNvSpPr/>
          <p:nvPr/>
        </p:nvSpPr>
        <p:spPr>
          <a:xfrm>
            <a:off x="1142999" y="2794010"/>
            <a:ext cx="4792955" cy="160654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15" name="Google Shape;450;p44"/>
          <p:cNvSpPr txBox="1">
            <a:spLocks/>
          </p:cNvSpPr>
          <p:nvPr/>
        </p:nvSpPr>
        <p:spPr>
          <a:xfrm>
            <a:off x="6596631" y="3060710"/>
            <a:ext cx="244568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200"/>
              </a:spcAft>
              <a:buFont typeface="Lato"/>
              <a:buNone/>
            </a:pPr>
            <a:r>
              <a:rPr lang="sr-Cyrl-RS" sz="1400" dirty="0" smtClean="0">
                <a:solidFill>
                  <a:schemeClr val="accent5">
                    <a:lumMod val="75000"/>
                  </a:schemeClr>
                </a:solidFill>
              </a:rPr>
              <a:t>Логичка и аритметичка ограничења</a:t>
            </a:r>
          </a:p>
        </p:txBody>
      </p:sp>
    </p:spTree>
    <p:extLst>
      <p:ext uri="{BB962C8B-B14F-4D97-AF65-F5344CB8AC3E}">
        <p14:creationId xmlns:p14="http://schemas.microsoft.com/office/powerpoint/2010/main" val="3473404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>
            <a:spLocks noGrp="1"/>
          </p:cNvSpPr>
          <p:nvPr>
            <p:ph type="title"/>
          </p:nvPr>
        </p:nvSpPr>
        <p:spPr>
          <a:xfrm>
            <a:off x="619681" y="610041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Пример</a:t>
            </a:r>
            <a:r>
              <a:rPr lang="en-US" dirty="0" smtClean="0"/>
              <a:t> CLP</a:t>
            </a:r>
            <a:r>
              <a:rPr lang="sr-Cyrl-RS" dirty="0" smtClean="0"/>
              <a:t> програма у </a:t>
            </a:r>
            <a:r>
              <a:rPr lang="en-US" dirty="0" smtClean="0"/>
              <a:t>Prolog</a:t>
            </a:r>
            <a:r>
              <a:rPr lang="sr-Cyrl-RS" dirty="0" smtClean="0"/>
              <a:t>-у</a:t>
            </a:r>
            <a:endParaRPr dirty="0"/>
          </a:p>
        </p:txBody>
      </p:sp>
      <p:cxnSp>
        <p:nvCxnSpPr>
          <p:cNvPr id="459" name="Google Shape;459;p44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2" name="Google Shape;462;p44"/>
          <p:cNvSpPr/>
          <p:nvPr/>
        </p:nvSpPr>
        <p:spPr>
          <a:xfrm>
            <a:off x="6921225" y="343800"/>
            <a:ext cx="971700" cy="971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4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1⦽6850+1226⦰↓10⋂5169640◻3165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5800" y="1352550"/>
            <a:ext cx="525015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800" dirty="0">
                <a:latin typeface="Consolas" pitchFamily="49" charset="0"/>
                <a:cs typeface="Courier New" pitchFamily="49" charset="0"/>
              </a:rPr>
              <a:t>:- use_module(library(clpfd)).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/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solve([S,E,N,D],[M,O,R,E],[M,O,N,E,Y]):-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= [S,E,N,D,M,O,R,Y],      </a:t>
            </a:r>
            <a:r>
              <a:rPr lang="sr-Latn-RS" sz="1800" dirty="0" smtClean="0">
                <a:latin typeface="Consolas" pitchFamily="49" charset="0"/>
                <a:cs typeface="Courier New" pitchFamily="49" charset="0"/>
              </a:rPr>
              <a:t> </a:t>
            </a:r>
            <a:br>
              <a:rPr lang="sr-Latn-RS" sz="1800" dirty="0" smtClean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Vars ins 0..9,      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all_different(Vars),            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1000*S + 100*E + 10*N + D +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1000*M + 100*O + 10*R + E #=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10000*M + 1000*O + 100*N + 10*E + Y,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S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M #\= 0,</a:t>
            </a:r>
            <a:br>
              <a:rPr lang="sr-Latn-RS" sz="1800" dirty="0">
                <a:latin typeface="Consolas" pitchFamily="49" charset="0"/>
                <a:cs typeface="Courier New" pitchFamily="49" charset="0"/>
              </a:rPr>
            </a:br>
            <a:r>
              <a:rPr lang="sr-Latn-RS" sz="1800" dirty="0">
                <a:latin typeface="Consolas" pitchFamily="49" charset="0"/>
                <a:cs typeface="Courier New" pitchFamily="49" charset="0"/>
              </a:rPr>
              <a:t>    labeling([], Vars).</a:t>
            </a:r>
          </a:p>
        </p:txBody>
      </p:sp>
      <p:sp>
        <p:nvSpPr>
          <p:cNvPr id="22" name="Google Shape;461;p44"/>
          <p:cNvSpPr/>
          <p:nvPr/>
        </p:nvSpPr>
        <p:spPr>
          <a:xfrm rot="811516">
            <a:off x="8253482" y="4010891"/>
            <a:ext cx="688755" cy="937528"/>
          </a:xfrm>
          <a:prstGeom prst="lightningBol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" name="Google Shape;457;p44"/>
          <p:cNvCxnSpPr/>
          <p:nvPr/>
        </p:nvCxnSpPr>
        <p:spPr>
          <a:xfrm flipV="1">
            <a:off x="3810000" y="4535508"/>
            <a:ext cx="1447800" cy="71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Rectangle 5"/>
          <p:cNvSpPr/>
          <p:nvPr/>
        </p:nvSpPr>
        <p:spPr>
          <a:xfrm>
            <a:off x="1142999" y="4388623"/>
            <a:ext cx="2667001" cy="38024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15" name="Google Shape;450;p44"/>
          <p:cNvSpPr txBox="1">
            <a:spLocks/>
          </p:cNvSpPr>
          <p:nvPr/>
        </p:nvSpPr>
        <p:spPr>
          <a:xfrm>
            <a:off x="5281645" y="4324350"/>
            <a:ext cx="2871755" cy="41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spcAft>
                <a:spcPts val="1200"/>
              </a:spcAft>
              <a:buFont typeface="Lato"/>
              <a:buNone/>
            </a:pPr>
            <a:r>
              <a:rPr lang="sr-Cyrl-RS" sz="1400" dirty="0" smtClean="0">
                <a:solidFill>
                  <a:schemeClr val="accent5">
                    <a:lumMod val="75000"/>
                  </a:schemeClr>
                </a:solidFill>
              </a:rPr>
              <a:t>Предикат који налази решења</a:t>
            </a:r>
          </a:p>
        </p:txBody>
      </p:sp>
    </p:spTree>
    <p:extLst>
      <p:ext uri="{BB962C8B-B14F-4D97-AF65-F5344CB8AC3E}">
        <p14:creationId xmlns:p14="http://schemas.microsoft.com/office/powerpoint/2010/main" val="147858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>
            <a:spLocks noGrp="1"/>
          </p:cNvSpPr>
          <p:nvPr>
            <p:ph type="title"/>
          </p:nvPr>
        </p:nvSpPr>
        <p:spPr>
          <a:xfrm flipH="1">
            <a:off x="5105400" y="1733550"/>
            <a:ext cx="30480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Шта је испод шахте?</a:t>
            </a:r>
            <a:endParaRPr dirty="0"/>
          </a:p>
        </p:txBody>
      </p:sp>
      <p:sp>
        <p:nvSpPr>
          <p:cNvPr id="382" name="Google Shape;382;p40"/>
          <p:cNvSpPr txBox="1">
            <a:spLocks noGrp="1"/>
          </p:cNvSpPr>
          <p:nvPr>
            <p:ph type="body" idx="1"/>
          </p:nvPr>
        </p:nvSpPr>
        <p:spPr>
          <a:xfrm flipH="1">
            <a:off x="5105400" y="2571750"/>
            <a:ext cx="28080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sr-Cyrl-RS" dirty="0" smtClean="0">
                <a:solidFill>
                  <a:schemeClr val="dk1"/>
                </a:solidFill>
              </a:rPr>
              <a:t>Алгоритми и методе које </a:t>
            </a:r>
            <a:r>
              <a:rPr lang="sr-Latn-RS" dirty="0" smtClean="0">
                <a:solidFill>
                  <a:schemeClr val="dk1"/>
                </a:solidFill>
              </a:rPr>
              <a:t>CLP </a:t>
            </a:r>
            <a:r>
              <a:rPr lang="sr-Cyrl-RS" dirty="0" smtClean="0">
                <a:solidFill>
                  <a:schemeClr val="dk1"/>
                </a:solidFill>
              </a:rPr>
              <a:t>имплементације користе за решавање проблема</a:t>
            </a:r>
            <a:endParaRPr dirty="0">
              <a:solidFill>
                <a:schemeClr val="dk1"/>
              </a:solidFill>
            </a:endParaRPr>
          </a:p>
        </p:txBody>
      </p:sp>
      <p:cxnSp>
        <p:nvCxnSpPr>
          <p:cNvPr id="384" name="Google Shape;384;p40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85" name="Google Shape;385;p40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429" r="30395"/>
          <a:stretch/>
        </p:blipFill>
        <p:spPr>
          <a:xfrm>
            <a:off x="1219200" y="-3479"/>
            <a:ext cx="3490755" cy="51660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9"/>
          <p:cNvSpPr txBox="1">
            <a:spLocks noGrp="1"/>
          </p:cNvSpPr>
          <p:nvPr>
            <p:ph type="title"/>
          </p:nvPr>
        </p:nvSpPr>
        <p:spPr>
          <a:xfrm>
            <a:off x="1676400" y="720180"/>
            <a:ext cx="819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Алгоритми и методе</a:t>
            </a:r>
            <a:endParaRPr dirty="0"/>
          </a:p>
        </p:txBody>
      </p:sp>
      <p:sp>
        <p:nvSpPr>
          <p:cNvPr id="528" name="Google Shape;528;p49"/>
          <p:cNvSpPr txBox="1">
            <a:spLocks noGrp="1"/>
          </p:cNvSpPr>
          <p:nvPr>
            <p:ph type="title" idx="2"/>
          </p:nvPr>
        </p:nvSpPr>
        <p:spPr>
          <a:xfrm>
            <a:off x="972100" y="2046150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sr-Cyrl-RS" dirty="0"/>
              <a:t>БЕКТРЕКИНГ</a:t>
            </a:r>
            <a:endParaRPr dirty="0"/>
          </a:p>
        </p:txBody>
      </p:sp>
      <p:sp>
        <p:nvSpPr>
          <p:cNvPr id="529" name="Google Shape;529;p49"/>
          <p:cNvSpPr txBox="1">
            <a:spLocks noGrp="1"/>
          </p:cNvSpPr>
          <p:nvPr>
            <p:ph type="subTitle" idx="1"/>
          </p:nvPr>
        </p:nvSpPr>
        <p:spPr>
          <a:xfrm>
            <a:off x="860300" y="2307150"/>
            <a:ext cx="20353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sr-Cyrl-RS" dirty="0"/>
              <a:t>Испробавање могућих комбинација</a:t>
            </a:r>
          </a:p>
        </p:txBody>
      </p:sp>
      <p:sp>
        <p:nvSpPr>
          <p:cNvPr id="530" name="Google Shape;530;p49"/>
          <p:cNvSpPr txBox="1">
            <a:spLocks noGrp="1"/>
          </p:cNvSpPr>
          <p:nvPr>
            <p:ph type="title" idx="3"/>
          </p:nvPr>
        </p:nvSpPr>
        <p:spPr>
          <a:xfrm>
            <a:off x="3027900" y="2876550"/>
            <a:ext cx="1848900" cy="7911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sr-Cyrl-RS" dirty="0"/>
              <a:t>ПРОПАГАЦИЈА ОГРАНИЧЕЊА</a:t>
            </a:r>
            <a:br>
              <a:rPr lang="sr-Cyrl-RS" dirty="0"/>
            </a:br>
            <a:endParaRPr dirty="0"/>
          </a:p>
        </p:txBody>
      </p:sp>
      <p:sp>
        <p:nvSpPr>
          <p:cNvPr id="531" name="Google Shape;531;p49"/>
          <p:cNvSpPr txBox="1">
            <a:spLocks noGrp="1"/>
          </p:cNvSpPr>
          <p:nvPr>
            <p:ph type="subTitle" idx="4"/>
          </p:nvPr>
        </p:nvSpPr>
        <p:spPr>
          <a:xfrm>
            <a:off x="3090600" y="3450150"/>
            <a:ext cx="17235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sr-Cyrl-RS" dirty="0"/>
              <a:t>Сужавање </a:t>
            </a:r>
            <a:r>
              <a:rPr lang="sr-Cyrl-RS" dirty="0" smtClean="0"/>
              <a:t>домена и проверавање конзистентности</a:t>
            </a:r>
            <a:endParaRPr lang="sr-Cyrl-RS" dirty="0"/>
          </a:p>
        </p:txBody>
      </p:sp>
      <p:sp>
        <p:nvSpPr>
          <p:cNvPr id="532" name="Google Shape;532;p49"/>
          <p:cNvSpPr txBox="1">
            <a:spLocks noGrp="1"/>
          </p:cNvSpPr>
          <p:nvPr>
            <p:ph type="title" idx="5"/>
          </p:nvPr>
        </p:nvSpPr>
        <p:spPr>
          <a:xfrm>
            <a:off x="5072550" y="1727562"/>
            <a:ext cx="193785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sr-Cyrl-RS" dirty="0"/>
              <a:t>ЛОКАЛНО ПРЕТРАЖИВАЊЕ</a:t>
            </a:r>
            <a:br>
              <a:rPr lang="sr-Cyrl-RS" dirty="0"/>
            </a:br>
            <a:endParaRPr dirty="0"/>
          </a:p>
        </p:txBody>
      </p:sp>
      <p:sp>
        <p:nvSpPr>
          <p:cNvPr id="533" name="Google Shape;533;p49"/>
          <p:cNvSpPr txBox="1">
            <a:spLocks noGrp="1"/>
          </p:cNvSpPr>
          <p:nvPr>
            <p:ph type="subTitle" idx="6"/>
          </p:nvPr>
        </p:nvSpPr>
        <p:spPr>
          <a:xfrm>
            <a:off x="5029200" y="2190750"/>
            <a:ext cx="19812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solidFill>
                  <a:schemeClr val="dk1"/>
                </a:solidFill>
              </a:rPr>
              <a:t>Кретање у простору кандидата за решења применом локалних промена</a:t>
            </a:r>
            <a:endParaRPr dirty="0"/>
          </a:p>
        </p:txBody>
      </p:sp>
      <p:cxnSp>
        <p:nvCxnSpPr>
          <p:cNvPr id="557" name="Google Shape;557;p49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8" name="Google Shape;558;p49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" name="Google Shape;10035;p80"/>
          <p:cNvSpPr/>
          <p:nvPr/>
        </p:nvSpPr>
        <p:spPr>
          <a:xfrm>
            <a:off x="5867400" y="1123950"/>
            <a:ext cx="351286" cy="349457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5" name="Google Shape;10085;p80"/>
          <p:cNvGrpSpPr/>
          <p:nvPr/>
        </p:nvGrpSpPr>
        <p:grpSpPr>
          <a:xfrm>
            <a:off x="1719398" y="1628237"/>
            <a:ext cx="351315" cy="348513"/>
            <a:chOff x="6167350" y="2672800"/>
            <a:chExt cx="297750" cy="295375"/>
          </a:xfrm>
          <a:solidFill>
            <a:schemeClr val="tx1"/>
          </a:solidFill>
        </p:grpSpPr>
        <p:sp>
          <p:nvSpPr>
            <p:cNvPr id="36" name="Google Shape;10086;p80"/>
            <p:cNvSpPr/>
            <p:nvPr/>
          </p:nvSpPr>
          <p:spPr>
            <a:xfrm>
              <a:off x="6167350" y="2672800"/>
              <a:ext cx="226850" cy="295375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7" name="Google Shape;10087;p80"/>
            <p:cNvSpPr/>
            <p:nvPr/>
          </p:nvSpPr>
          <p:spPr>
            <a:xfrm>
              <a:off x="6201225" y="2762575"/>
              <a:ext cx="52775" cy="49650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8" name="Google Shape;10088;p80"/>
            <p:cNvSpPr/>
            <p:nvPr/>
          </p:nvSpPr>
          <p:spPr>
            <a:xfrm>
              <a:off x="6308325" y="288230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9" name="Google Shape;10089;p80"/>
            <p:cNvSpPr/>
            <p:nvPr/>
          </p:nvSpPr>
          <p:spPr>
            <a:xfrm>
              <a:off x="6200425" y="2759425"/>
              <a:ext cx="156775" cy="174875"/>
            </a:xfrm>
            <a:custGeom>
              <a:avLst/>
              <a:gdLst/>
              <a:ahLst/>
              <a:cxnLst/>
              <a:rect l="l" t="t" r="r" b="b"/>
              <a:pathLst>
                <a:path w="6271" h="6995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0" name="Google Shape;10090;p80"/>
            <p:cNvSpPr/>
            <p:nvPr/>
          </p:nvSpPr>
          <p:spPr>
            <a:xfrm>
              <a:off x="6412300" y="2742900"/>
              <a:ext cx="52800" cy="20872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45" name="Google Shape;532;p49"/>
          <p:cNvSpPr txBox="1">
            <a:spLocks noGrp="1"/>
          </p:cNvSpPr>
          <p:nvPr>
            <p:ph type="title" idx="5"/>
          </p:nvPr>
        </p:nvSpPr>
        <p:spPr>
          <a:xfrm>
            <a:off x="6748950" y="3225150"/>
            <a:ext cx="193785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sr-Cyrl-RS" dirty="0" smtClean="0"/>
              <a:t>И ДРУГЕ МЕТОДЕ</a:t>
            </a:r>
            <a:endParaRPr dirty="0"/>
          </a:p>
        </p:txBody>
      </p:sp>
      <p:grpSp>
        <p:nvGrpSpPr>
          <p:cNvPr id="47" name="Google Shape;543;p49"/>
          <p:cNvGrpSpPr/>
          <p:nvPr/>
        </p:nvGrpSpPr>
        <p:grpSpPr>
          <a:xfrm>
            <a:off x="7543800" y="2852191"/>
            <a:ext cx="340608" cy="340168"/>
            <a:chOff x="5053900" y="2021500"/>
            <a:chExt cx="483750" cy="483125"/>
          </a:xfrm>
        </p:grpSpPr>
        <p:sp>
          <p:nvSpPr>
            <p:cNvPr id="48" name="Google Shape;544;p49"/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9" name="Google Shape;545;p49"/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0" name="Google Shape;546;p49"/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" name="Google Shape;547;p49"/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" name="Google Shape;548;p49"/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3" name="Google Shape;549;p49"/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4" name="Google Shape;550;p49"/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5" name="Google Shape;551;p49"/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9" name="Google Shape;10709;p82"/>
          <p:cNvSpPr/>
          <p:nvPr/>
        </p:nvSpPr>
        <p:spPr>
          <a:xfrm>
            <a:off x="3789900" y="2495550"/>
            <a:ext cx="360079" cy="336595"/>
          </a:xfrm>
          <a:custGeom>
            <a:avLst/>
            <a:gdLst/>
            <a:ahLst/>
            <a:cxnLst/>
            <a:rect l="l" t="t" r="r" b="b"/>
            <a:pathLst>
              <a:path w="12067" h="11280" extrusionOk="0">
                <a:moveTo>
                  <a:pt x="5986" y="757"/>
                </a:moveTo>
                <a:cubicBezTo>
                  <a:pt x="7656" y="757"/>
                  <a:pt x="9011" y="2049"/>
                  <a:pt x="9137" y="3718"/>
                </a:cubicBezTo>
                <a:cubicBezTo>
                  <a:pt x="8822" y="3624"/>
                  <a:pt x="8475" y="3561"/>
                  <a:pt x="8066" y="3561"/>
                </a:cubicBezTo>
                <a:cubicBezTo>
                  <a:pt x="7278" y="3561"/>
                  <a:pt x="6585" y="3781"/>
                  <a:pt x="5955" y="4191"/>
                </a:cubicBezTo>
                <a:cubicBezTo>
                  <a:pt x="5356" y="3781"/>
                  <a:pt x="4632" y="3561"/>
                  <a:pt x="3844" y="3561"/>
                </a:cubicBezTo>
                <a:cubicBezTo>
                  <a:pt x="3466" y="3561"/>
                  <a:pt x="3119" y="3592"/>
                  <a:pt x="2773" y="3718"/>
                </a:cubicBezTo>
                <a:cubicBezTo>
                  <a:pt x="2930" y="2049"/>
                  <a:pt x="4285" y="757"/>
                  <a:pt x="5986" y="757"/>
                </a:cubicBezTo>
                <a:close/>
                <a:moveTo>
                  <a:pt x="3875" y="4254"/>
                </a:moveTo>
                <a:cubicBezTo>
                  <a:pt x="4411" y="4254"/>
                  <a:pt x="4915" y="4411"/>
                  <a:pt x="5388" y="4663"/>
                </a:cubicBezTo>
                <a:cubicBezTo>
                  <a:pt x="4852" y="5168"/>
                  <a:pt x="4505" y="5829"/>
                  <a:pt x="4285" y="6585"/>
                </a:cubicBezTo>
                <a:cubicBezTo>
                  <a:pt x="3560" y="6113"/>
                  <a:pt x="2993" y="5325"/>
                  <a:pt x="2836" y="4411"/>
                </a:cubicBezTo>
                <a:cubicBezTo>
                  <a:pt x="3151" y="4317"/>
                  <a:pt x="3497" y="4254"/>
                  <a:pt x="3875" y="4254"/>
                </a:cubicBezTo>
                <a:close/>
                <a:moveTo>
                  <a:pt x="8129" y="4254"/>
                </a:moveTo>
                <a:cubicBezTo>
                  <a:pt x="8475" y="4254"/>
                  <a:pt x="8822" y="4317"/>
                  <a:pt x="9137" y="4411"/>
                </a:cubicBezTo>
                <a:cubicBezTo>
                  <a:pt x="8979" y="5325"/>
                  <a:pt x="8444" y="6113"/>
                  <a:pt x="7687" y="6585"/>
                </a:cubicBezTo>
                <a:cubicBezTo>
                  <a:pt x="7498" y="5829"/>
                  <a:pt x="7089" y="5168"/>
                  <a:pt x="6585" y="4663"/>
                </a:cubicBezTo>
                <a:cubicBezTo>
                  <a:pt x="7026" y="4411"/>
                  <a:pt x="7561" y="4254"/>
                  <a:pt x="8129" y="4254"/>
                </a:cubicBezTo>
                <a:close/>
                <a:moveTo>
                  <a:pt x="5986" y="5042"/>
                </a:moveTo>
                <a:cubicBezTo>
                  <a:pt x="6490" y="5514"/>
                  <a:pt x="6900" y="6144"/>
                  <a:pt x="7026" y="6900"/>
                </a:cubicBezTo>
                <a:cubicBezTo>
                  <a:pt x="6648" y="7026"/>
                  <a:pt x="6364" y="7058"/>
                  <a:pt x="5986" y="7058"/>
                </a:cubicBezTo>
                <a:cubicBezTo>
                  <a:pt x="5640" y="7058"/>
                  <a:pt x="5293" y="7026"/>
                  <a:pt x="4978" y="6900"/>
                </a:cubicBezTo>
                <a:cubicBezTo>
                  <a:pt x="5073" y="6176"/>
                  <a:pt x="5451" y="5514"/>
                  <a:pt x="5986" y="5042"/>
                </a:cubicBezTo>
                <a:close/>
                <a:moveTo>
                  <a:pt x="4915" y="7625"/>
                </a:moveTo>
                <a:lnTo>
                  <a:pt x="4915" y="7625"/>
                </a:lnTo>
                <a:cubicBezTo>
                  <a:pt x="5230" y="7688"/>
                  <a:pt x="5608" y="7782"/>
                  <a:pt x="5986" y="7782"/>
                </a:cubicBezTo>
                <a:cubicBezTo>
                  <a:pt x="6333" y="7782"/>
                  <a:pt x="6711" y="7719"/>
                  <a:pt x="7057" y="7625"/>
                </a:cubicBezTo>
                <a:lnTo>
                  <a:pt x="7057" y="7625"/>
                </a:lnTo>
                <a:cubicBezTo>
                  <a:pt x="6963" y="8476"/>
                  <a:pt x="6585" y="9232"/>
                  <a:pt x="5986" y="9767"/>
                </a:cubicBezTo>
                <a:cubicBezTo>
                  <a:pt x="5388" y="9232"/>
                  <a:pt x="5010" y="8476"/>
                  <a:pt x="4915" y="7625"/>
                </a:cubicBezTo>
                <a:close/>
                <a:moveTo>
                  <a:pt x="2206" y="4726"/>
                </a:moveTo>
                <a:cubicBezTo>
                  <a:pt x="2458" y="5892"/>
                  <a:pt x="3245" y="6837"/>
                  <a:pt x="4222" y="7373"/>
                </a:cubicBezTo>
                <a:lnTo>
                  <a:pt x="4222" y="7467"/>
                </a:lnTo>
                <a:cubicBezTo>
                  <a:pt x="4222" y="8570"/>
                  <a:pt x="4663" y="9515"/>
                  <a:pt x="5388" y="10208"/>
                </a:cubicBezTo>
                <a:cubicBezTo>
                  <a:pt x="4915" y="10460"/>
                  <a:pt x="4411" y="10555"/>
                  <a:pt x="3875" y="10555"/>
                </a:cubicBezTo>
                <a:cubicBezTo>
                  <a:pt x="2080" y="10555"/>
                  <a:pt x="662" y="9137"/>
                  <a:pt x="662" y="7404"/>
                </a:cubicBezTo>
                <a:cubicBezTo>
                  <a:pt x="662" y="6270"/>
                  <a:pt x="1260" y="5294"/>
                  <a:pt x="2206" y="4726"/>
                </a:cubicBezTo>
                <a:close/>
                <a:moveTo>
                  <a:pt x="9735" y="4695"/>
                </a:moveTo>
                <a:cubicBezTo>
                  <a:pt x="10649" y="5262"/>
                  <a:pt x="11279" y="6239"/>
                  <a:pt x="11279" y="7373"/>
                </a:cubicBezTo>
                <a:cubicBezTo>
                  <a:pt x="11279" y="9137"/>
                  <a:pt x="9861" y="10555"/>
                  <a:pt x="8066" y="10555"/>
                </a:cubicBezTo>
                <a:cubicBezTo>
                  <a:pt x="7530" y="10555"/>
                  <a:pt x="7026" y="10397"/>
                  <a:pt x="6553" y="10177"/>
                </a:cubicBezTo>
                <a:cubicBezTo>
                  <a:pt x="7246" y="9452"/>
                  <a:pt x="7719" y="8476"/>
                  <a:pt x="7719" y="7404"/>
                </a:cubicBezTo>
                <a:lnTo>
                  <a:pt x="7719" y="7341"/>
                </a:lnTo>
                <a:cubicBezTo>
                  <a:pt x="8759" y="6837"/>
                  <a:pt x="9515" y="5892"/>
                  <a:pt x="9735" y="4695"/>
                </a:cubicBezTo>
                <a:close/>
                <a:moveTo>
                  <a:pt x="5986" y="1"/>
                </a:moveTo>
                <a:cubicBezTo>
                  <a:pt x="3875" y="1"/>
                  <a:pt x="2143" y="1734"/>
                  <a:pt x="2143" y="3876"/>
                </a:cubicBezTo>
                <a:lnTo>
                  <a:pt x="2143" y="3939"/>
                </a:lnTo>
                <a:cubicBezTo>
                  <a:pt x="882" y="4569"/>
                  <a:pt x="0" y="5892"/>
                  <a:pt x="0" y="7404"/>
                </a:cubicBezTo>
                <a:cubicBezTo>
                  <a:pt x="0" y="9547"/>
                  <a:pt x="1733" y="11279"/>
                  <a:pt x="3907" y="11279"/>
                </a:cubicBezTo>
                <a:cubicBezTo>
                  <a:pt x="4695" y="11279"/>
                  <a:pt x="5388" y="11027"/>
                  <a:pt x="6018" y="10649"/>
                </a:cubicBezTo>
                <a:cubicBezTo>
                  <a:pt x="6616" y="11027"/>
                  <a:pt x="7372" y="11279"/>
                  <a:pt x="8160" y="11279"/>
                </a:cubicBezTo>
                <a:cubicBezTo>
                  <a:pt x="10271" y="11279"/>
                  <a:pt x="12067" y="9547"/>
                  <a:pt x="12067" y="7404"/>
                </a:cubicBezTo>
                <a:cubicBezTo>
                  <a:pt x="11972" y="5924"/>
                  <a:pt x="11122" y="4632"/>
                  <a:pt x="9861" y="3939"/>
                </a:cubicBezTo>
                <a:lnTo>
                  <a:pt x="9861" y="3876"/>
                </a:lnTo>
                <a:cubicBezTo>
                  <a:pt x="9861" y="1734"/>
                  <a:pt x="8129" y="1"/>
                  <a:pt x="5986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 rot="2613481">
            <a:off x="625043" y="632936"/>
            <a:ext cx="824602" cy="82460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30" name="Google Shape;339;p37"/>
          <p:cNvSpPr txBox="1">
            <a:spLocks/>
          </p:cNvSpPr>
          <p:nvPr/>
        </p:nvSpPr>
        <p:spPr>
          <a:xfrm>
            <a:off x="457200" y="462339"/>
            <a:ext cx="1257000" cy="11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" dirty="0" smtClean="0"/>
              <a:t>0</a:t>
            </a:r>
            <a:r>
              <a:rPr lang="en-US" dirty="0"/>
              <a:t>3</a:t>
            </a:r>
            <a:endParaRPr lang="e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"/>
          <p:cNvSpPr txBox="1">
            <a:spLocks noGrp="1"/>
          </p:cNvSpPr>
          <p:nvPr>
            <p:ph type="title" idx="7"/>
          </p:nvPr>
        </p:nvSpPr>
        <p:spPr>
          <a:xfrm>
            <a:off x="4038600" y="1215696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 smtClean="0"/>
              <a:t>C#</a:t>
            </a:r>
            <a:endParaRPr dirty="0"/>
          </a:p>
        </p:txBody>
      </p:sp>
      <p:sp>
        <p:nvSpPr>
          <p:cNvPr id="476" name="Google Shape;476;p45"/>
          <p:cNvSpPr txBox="1">
            <a:spLocks noGrp="1"/>
          </p:cNvSpPr>
          <p:nvPr>
            <p:ph type="subTitle" idx="8"/>
          </p:nvPr>
        </p:nvSpPr>
        <p:spPr>
          <a:xfrm>
            <a:off x="3886200" y="1123950"/>
            <a:ext cx="2133599" cy="34007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sr-Latn-RS" dirty="0" smtClean="0"/>
              <a:t>(Decider)</a:t>
            </a:r>
          </a:p>
          <a:p>
            <a:pPr marL="0" lvl="0" indent="0"/>
            <a:endParaRPr lang="sr-Latn-RS" sz="1200" i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 smtClean="0"/>
              <a:t>Криптоаритметика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sr-Cyrl-RS" sz="1200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 smtClean="0"/>
              <a:t>Магични шестоугао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sr-Cyrl-RS" sz="1200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 smtClean="0"/>
              <a:t>Судоку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sr-Cyrl-RS" sz="1200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 smtClean="0"/>
              <a:t>Ајнштајнова загонетка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endParaRPr lang="sr-Cyrl-RS" sz="1200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/>
              <a:t>А</a:t>
            </a:r>
            <a:r>
              <a:rPr lang="sr-Cyrl-RS" sz="1200" dirty="0" smtClean="0"/>
              <a:t>утоматско заказивање састанака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81" name="Google Shape;481;p45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2" name="Google Shape;482;p4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475;p45"/>
          <p:cNvSpPr txBox="1">
            <a:spLocks noGrp="1"/>
          </p:cNvSpPr>
          <p:nvPr>
            <p:ph type="title" idx="7"/>
          </p:nvPr>
        </p:nvSpPr>
        <p:spPr>
          <a:xfrm>
            <a:off x="6251951" y="682296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 smtClean="0"/>
              <a:t>C++</a:t>
            </a:r>
            <a:endParaRPr dirty="0"/>
          </a:p>
        </p:txBody>
      </p:sp>
      <p:sp>
        <p:nvSpPr>
          <p:cNvPr id="22" name="Google Shape;476;p45"/>
          <p:cNvSpPr txBox="1">
            <a:spLocks noGrp="1"/>
          </p:cNvSpPr>
          <p:nvPr>
            <p:ph type="subTitle" idx="8"/>
          </p:nvPr>
        </p:nvSpPr>
        <p:spPr>
          <a:xfrm>
            <a:off x="6099551" y="590550"/>
            <a:ext cx="2133599" cy="152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sr-Latn-RS" dirty="0"/>
              <a:t>(Naxos Solver)</a:t>
            </a:r>
          </a:p>
          <a:p>
            <a:pPr marL="0" lvl="0" indent="0"/>
            <a:endParaRPr lang="sr-Latn-RS" sz="1200" i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 smtClean="0"/>
              <a:t>Криптоаритметика</a:t>
            </a:r>
            <a:endParaRPr dirty="0"/>
          </a:p>
        </p:txBody>
      </p:sp>
      <p:sp>
        <p:nvSpPr>
          <p:cNvPr id="32" name="Google Shape;475;p45"/>
          <p:cNvSpPr txBox="1">
            <a:spLocks noGrp="1"/>
          </p:cNvSpPr>
          <p:nvPr>
            <p:ph type="title" idx="7"/>
          </p:nvPr>
        </p:nvSpPr>
        <p:spPr>
          <a:xfrm>
            <a:off x="6248400" y="2053896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 smtClean="0"/>
              <a:t>Python</a:t>
            </a:r>
            <a:endParaRPr dirty="0"/>
          </a:p>
        </p:txBody>
      </p:sp>
      <p:sp>
        <p:nvSpPr>
          <p:cNvPr id="33" name="Google Shape;476;p45"/>
          <p:cNvSpPr txBox="1">
            <a:spLocks noGrp="1"/>
          </p:cNvSpPr>
          <p:nvPr>
            <p:ph type="subTitle" idx="8"/>
          </p:nvPr>
        </p:nvSpPr>
        <p:spPr>
          <a:xfrm>
            <a:off x="6096000" y="1962150"/>
            <a:ext cx="2133599" cy="152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sr-Latn-RS" dirty="0" smtClean="0"/>
              <a:t>(python-constraint</a:t>
            </a:r>
            <a:r>
              <a:rPr lang="sr-Latn-RS" dirty="0"/>
              <a:t>)</a:t>
            </a:r>
          </a:p>
          <a:p>
            <a:pPr marL="0" lvl="0" indent="0"/>
            <a:endParaRPr lang="sr-Latn-RS" sz="1200" i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 smtClean="0"/>
              <a:t>Криптоаритметика</a:t>
            </a:r>
            <a:endParaRPr dirty="0"/>
          </a:p>
        </p:txBody>
      </p:sp>
      <p:sp>
        <p:nvSpPr>
          <p:cNvPr id="34" name="Google Shape;475;p45"/>
          <p:cNvSpPr txBox="1">
            <a:spLocks noGrp="1"/>
          </p:cNvSpPr>
          <p:nvPr>
            <p:ph type="title" idx="7"/>
          </p:nvPr>
        </p:nvSpPr>
        <p:spPr>
          <a:xfrm>
            <a:off x="6248400" y="3425496"/>
            <a:ext cx="1848900" cy="33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 smtClean="0"/>
              <a:t>Java</a:t>
            </a:r>
            <a:endParaRPr dirty="0"/>
          </a:p>
        </p:txBody>
      </p:sp>
      <p:sp>
        <p:nvSpPr>
          <p:cNvPr id="35" name="Google Shape;476;p45"/>
          <p:cNvSpPr txBox="1">
            <a:spLocks noGrp="1"/>
          </p:cNvSpPr>
          <p:nvPr>
            <p:ph type="subTitle" idx="8"/>
          </p:nvPr>
        </p:nvSpPr>
        <p:spPr>
          <a:xfrm>
            <a:off x="6096000" y="3333750"/>
            <a:ext cx="2133599" cy="152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sr-Latn-RS" dirty="0" smtClean="0"/>
              <a:t>(Choko-solver</a:t>
            </a:r>
            <a:r>
              <a:rPr lang="sr-Latn-RS" dirty="0"/>
              <a:t>)</a:t>
            </a:r>
          </a:p>
          <a:p>
            <a:pPr marL="0" lvl="0" indent="0"/>
            <a:endParaRPr lang="sr-Latn-RS" sz="1200" i="1" dirty="0" smtClean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sr-Cyrl-RS" sz="1200" dirty="0" smtClean="0"/>
              <a:t>Криптоаритметика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684154"/>
            <a:ext cx="28727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Cyrl-RS" sz="2800" b="1" dirty="0" smtClean="0">
                <a:latin typeface="Roboto" charset="0"/>
                <a:ea typeface="Roboto" charset="0"/>
              </a:rPr>
              <a:t>Употреба </a:t>
            </a:r>
            <a:r>
              <a:rPr lang="en-GB" sz="2800" b="1" smtClean="0">
                <a:latin typeface="Roboto" charset="0"/>
                <a:ea typeface="Roboto" charset="0"/>
              </a:rPr>
              <a:t>CLP </a:t>
            </a:r>
            <a:r>
              <a:rPr lang="sr-Cyrl-RS" sz="2800" b="1" smtClean="0">
                <a:latin typeface="Roboto" charset="0"/>
                <a:ea typeface="Roboto" charset="0"/>
              </a:rPr>
              <a:t>у </a:t>
            </a:r>
            <a:r>
              <a:rPr lang="sr-Cyrl-RS" sz="2800" b="1" dirty="0" smtClean="0">
                <a:latin typeface="Roboto" charset="0"/>
                <a:ea typeface="Roboto" charset="0"/>
              </a:rPr>
              <a:t>програмским језицима треће генерације</a:t>
            </a:r>
            <a:endParaRPr lang="sr-Latn-RS" sz="2800" b="1" dirty="0">
              <a:latin typeface="Roboto" charset="0"/>
              <a:ea typeface="Roboto" charset="0"/>
            </a:endParaRPr>
          </a:p>
        </p:txBody>
      </p:sp>
      <p:sp>
        <p:nvSpPr>
          <p:cNvPr id="15" name="Rectangle 14"/>
          <p:cNvSpPr/>
          <p:nvPr/>
        </p:nvSpPr>
        <p:spPr>
          <a:xfrm rot="2613481">
            <a:off x="627797" y="608747"/>
            <a:ext cx="824602" cy="82460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/>
          </a:p>
        </p:txBody>
      </p:sp>
      <p:sp>
        <p:nvSpPr>
          <p:cNvPr id="16" name="Google Shape;339;p37"/>
          <p:cNvSpPr txBox="1">
            <a:spLocks/>
          </p:cNvSpPr>
          <p:nvPr/>
        </p:nvSpPr>
        <p:spPr>
          <a:xfrm>
            <a:off x="459954" y="452954"/>
            <a:ext cx="1257000" cy="11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Roboto"/>
              <a:buNone/>
              <a:defRPr sz="6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" dirty="0" smtClean="0"/>
              <a:t>0</a:t>
            </a:r>
            <a:r>
              <a:rPr lang="en-US" dirty="0"/>
              <a:t>4</a:t>
            </a:r>
            <a:endParaRPr lang="e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6"/>
          <p:cNvSpPr/>
          <p:nvPr/>
        </p:nvSpPr>
        <p:spPr>
          <a:xfrm>
            <a:off x="8488800" y="2450"/>
            <a:ext cx="655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54" name="Google Shape;954;p66">
            <a:hlinkClick r:id="" action="ppaction://hlinkshowjump?jump=nextslide"/>
          </p:cNvPr>
          <p:cNvCxnSpPr/>
          <p:nvPr/>
        </p:nvCxnSpPr>
        <p:spPr>
          <a:xfrm>
            <a:off x="80309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5" name="Google Shape;955;p66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6" name="Google Shape;956;p66"/>
          <p:cNvSpPr txBox="1"/>
          <p:nvPr/>
        </p:nvSpPr>
        <p:spPr>
          <a:xfrm rot="-5400000">
            <a:off x="-498225" y="3680525"/>
            <a:ext cx="171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↓1516⦽3165⦰85226◻00⋂0+196416</a:t>
            </a:r>
            <a:endParaRPr sz="1000"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" name="Google Shape;929;p65"/>
          <p:cNvSpPr/>
          <p:nvPr/>
        </p:nvSpPr>
        <p:spPr>
          <a:xfrm>
            <a:off x="1747358" y="3664050"/>
            <a:ext cx="572700" cy="584100"/>
          </a:xfrm>
          <a:prstGeom prst="plus">
            <a:avLst>
              <a:gd name="adj" fmla="val 36302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30;p65"/>
          <p:cNvSpPr/>
          <p:nvPr/>
        </p:nvSpPr>
        <p:spPr>
          <a:xfrm>
            <a:off x="867013" y="3669730"/>
            <a:ext cx="572700" cy="57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931;p65"/>
          <p:cNvSpPr/>
          <p:nvPr/>
        </p:nvSpPr>
        <p:spPr>
          <a:xfrm>
            <a:off x="2627700" y="3669817"/>
            <a:ext cx="572700" cy="57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33;p65"/>
          <p:cNvSpPr txBox="1">
            <a:spLocks/>
          </p:cNvSpPr>
          <p:nvPr/>
        </p:nvSpPr>
        <p:spPr>
          <a:xfrm>
            <a:off x="744195" y="2656067"/>
            <a:ext cx="3342725" cy="8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dirty="0" smtClean="0">
                <a:solidFill>
                  <a:schemeClr val="accent4"/>
                </a:solidFill>
              </a:rPr>
              <a:t>irtlea@yahoo.com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dirty="0" smtClean="0">
                <a:solidFill>
                  <a:schemeClr val="dk1"/>
                </a:solidFill>
              </a:rPr>
              <a:t>+381 652 106 199</a:t>
            </a:r>
          </a:p>
        </p:txBody>
      </p:sp>
      <p:sp>
        <p:nvSpPr>
          <p:cNvPr id="14" name="Google Shape;932;p65"/>
          <p:cNvSpPr txBox="1">
            <a:spLocks/>
          </p:cNvSpPr>
          <p:nvPr/>
        </p:nvSpPr>
        <p:spPr>
          <a:xfrm>
            <a:off x="609600" y="666750"/>
            <a:ext cx="381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sr-Cyrl-RS" dirty="0" smtClean="0"/>
              <a:t>Хвала на пажњи!</a:t>
            </a:r>
            <a:endParaRPr lang="sr-Cyrl-RS" dirty="0"/>
          </a:p>
        </p:txBody>
      </p:sp>
      <p:sp>
        <p:nvSpPr>
          <p:cNvPr id="15" name="Google Shape;935;p65"/>
          <p:cNvSpPr/>
          <p:nvPr/>
        </p:nvSpPr>
        <p:spPr>
          <a:xfrm>
            <a:off x="984033" y="3787007"/>
            <a:ext cx="338755" cy="338308"/>
          </a:xfrm>
          <a:custGeom>
            <a:avLst/>
            <a:gdLst/>
            <a:ahLst/>
            <a:cxnLst/>
            <a:rect l="l" t="t" r="r" b="b"/>
            <a:pathLst>
              <a:path w="19066" h="19065" extrusionOk="0">
                <a:moveTo>
                  <a:pt x="2794" y="0"/>
                </a:moveTo>
                <a:cubicBezTo>
                  <a:pt x="1255" y="0"/>
                  <a:pt x="1" y="1253"/>
                  <a:pt x="1" y="2793"/>
                </a:cubicBezTo>
                <a:lnTo>
                  <a:pt x="1" y="16271"/>
                </a:lnTo>
                <a:cubicBezTo>
                  <a:pt x="1" y="17812"/>
                  <a:pt x="1255" y="19065"/>
                  <a:pt x="2794" y="19065"/>
                </a:cubicBezTo>
                <a:lnTo>
                  <a:pt x="9571" y="19065"/>
                </a:lnTo>
                <a:lnTo>
                  <a:pt x="9571" y="11171"/>
                </a:lnTo>
                <a:lnTo>
                  <a:pt x="8453" y="11171"/>
                </a:lnTo>
                <a:cubicBezTo>
                  <a:pt x="8145" y="11171"/>
                  <a:pt x="7896" y="10920"/>
                  <a:pt x="7896" y="10612"/>
                </a:cubicBezTo>
                <a:lnTo>
                  <a:pt x="7896" y="8378"/>
                </a:lnTo>
                <a:cubicBezTo>
                  <a:pt x="7896" y="8070"/>
                  <a:pt x="8145" y="7819"/>
                  <a:pt x="8453" y="7819"/>
                </a:cubicBezTo>
                <a:lnTo>
                  <a:pt x="9571" y="7819"/>
                </a:lnTo>
                <a:lnTo>
                  <a:pt x="9571" y="5836"/>
                </a:lnTo>
                <a:cubicBezTo>
                  <a:pt x="9571" y="3710"/>
                  <a:pt x="10741" y="2615"/>
                  <a:pt x="12878" y="2302"/>
                </a:cubicBezTo>
                <a:cubicBezTo>
                  <a:pt x="13231" y="2249"/>
                  <a:pt x="13591" y="2223"/>
                  <a:pt x="13956" y="2223"/>
                </a:cubicBezTo>
                <a:cubicBezTo>
                  <a:pt x="14725" y="2223"/>
                  <a:pt x="15517" y="2339"/>
                  <a:pt x="16318" y="2567"/>
                </a:cubicBezTo>
                <a:cubicBezTo>
                  <a:pt x="16589" y="2643"/>
                  <a:pt x="16759" y="2908"/>
                  <a:pt x="16718" y="3186"/>
                </a:cubicBezTo>
                <a:lnTo>
                  <a:pt x="16352" y="5650"/>
                </a:lnTo>
                <a:cubicBezTo>
                  <a:pt x="16329" y="5806"/>
                  <a:pt x="16240" y="5944"/>
                  <a:pt x="16111" y="6031"/>
                </a:cubicBezTo>
                <a:cubicBezTo>
                  <a:pt x="16006" y="6102"/>
                  <a:pt x="15912" y="6127"/>
                  <a:pt x="15818" y="6127"/>
                </a:cubicBezTo>
                <a:cubicBezTo>
                  <a:pt x="15717" y="6127"/>
                  <a:pt x="15614" y="6098"/>
                  <a:pt x="15494" y="6068"/>
                </a:cubicBezTo>
                <a:cubicBezTo>
                  <a:pt x="15202" y="5995"/>
                  <a:pt x="14879" y="5914"/>
                  <a:pt x="14527" y="5914"/>
                </a:cubicBezTo>
                <a:cubicBezTo>
                  <a:pt x="14409" y="5914"/>
                  <a:pt x="14289" y="5923"/>
                  <a:pt x="14165" y="5944"/>
                </a:cubicBezTo>
                <a:cubicBezTo>
                  <a:pt x="13534" y="6050"/>
                  <a:pt x="13481" y="6333"/>
                  <a:pt x="13481" y="6590"/>
                </a:cubicBezTo>
                <a:lnTo>
                  <a:pt x="13481" y="7819"/>
                </a:lnTo>
                <a:lnTo>
                  <a:pt x="15715" y="7819"/>
                </a:lnTo>
                <a:cubicBezTo>
                  <a:pt x="15887" y="7819"/>
                  <a:pt x="16048" y="7899"/>
                  <a:pt x="16154" y="8035"/>
                </a:cubicBezTo>
                <a:cubicBezTo>
                  <a:pt x="16260" y="8169"/>
                  <a:pt x="16297" y="8346"/>
                  <a:pt x="16256" y="8513"/>
                </a:cubicBezTo>
                <a:lnTo>
                  <a:pt x="15697" y="10747"/>
                </a:lnTo>
                <a:cubicBezTo>
                  <a:pt x="15635" y="10996"/>
                  <a:pt x="15412" y="11170"/>
                  <a:pt x="15156" y="11170"/>
                </a:cubicBezTo>
                <a:lnTo>
                  <a:pt x="13481" y="11170"/>
                </a:lnTo>
                <a:lnTo>
                  <a:pt x="13481" y="19065"/>
                </a:lnTo>
                <a:lnTo>
                  <a:pt x="16272" y="19065"/>
                </a:lnTo>
                <a:cubicBezTo>
                  <a:pt x="17813" y="19065"/>
                  <a:pt x="19066" y="17810"/>
                  <a:pt x="19066" y="16271"/>
                </a:cubicBezTo>
                <a:lnTo>
                  <a:pt x="19066" y="2793"/>
                </a:lnTo>
                <a:cubicBezTo>
                  <a:pt x="19066" y="1253"/>
                  <a:pt x="17813" y="0"/>
                  <a:pt x="16274" y="0"/>
                </a:cubicBezTo>
                <a:close/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" name="Google Shape;940;p65">
            <a:hlinkClick r:id="" action="ppaction://hlinkshowjump?jump=previousslide"/>
          </p:cNvPr>
          <p:cNvCxnSpPr/>
          <p:nvPr/>
        </p:nvCxnSpPr>
        <p:spPr>
          <a:xfrm rot="10800000">
            <a:off x="708650" y="4607208"/>
            <a:ext cx="404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" name="Google Shape;941;p65"/>
          <p:cNvGrpSpPr/>
          <p:nvPr/>
        </p:nvGrpSpPr>
        <p:grpSpPr>
          <a:xfrm>
            <a:off x="1864345" y="3787008"/>
            <a:ext cx="338741" cy="338707"/>
            <a:chOff x="812101" y="2571761"/>
            <a:chExt cx="417066" cy="417024"/>
          </a:xfrm>
        </p:grpSpPr>
        <p:sp>
          <p:nvSpPr>
            <p:cNvPr id="20" name="Google Shape;942;p6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43;p6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44;p6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45;p6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" t="19587" r="-2400" b="2295"/>
          <a:stretch/>
        </p:blipFill>
        <p:spPr>
          <a:xfrm>
            <a:off x="4343400" y="-19051"/>
            <a:ext cx="5029200" cy="5237345"/>
          </a:xfrm>
          <a:prstGeom prst="rect">
            <a:avLst/>
          </a:prstGeom>
        </p:spPr>
      </p:pic>
      <p:sp>
        <p:nvSpPr>
          <p:cNvPr id="17" name="Google Shape;938;p65"/>
          <p:cNvSpPr/>
          <p:nvPr/>
        </p:nvSpPr>
        <p:spPr>
          <a:xfrm rot="-2554199">
            <a:off x="3499128" y="288002"/>
            <a:ext cx="1400907" cy="1428937"/>
          </a:xfrm>
          <a:prstGeom prst="plus">
            <a:avLst>
              <a:gd name="adj" fmla="val 3630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793" y="1352550"/>
            <a:ext cx="22852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sr-Cyrl-RS" sz="2000" b="1" dirty="0">
                <a:solidFill>
                  <a:schemeClr val="dk1"/>
                </a:solidFill>
              </a:rPr>
              <a:t>Питања</a:t>
            </a:r>
            <a:r>
              <a:rPr lang="en-US" sz="2000" b="1" dirty="0">
                <a:solidFill>
                  <a:schemeClr val="dk1"/>
                </a:solidFill>
              </a:rPr>
              <a:t>?</a:t>
            </a:r>
          </a:p>
        </p:txBody>
      </p:sp>
      <p:grpSp>
        <p:nvGrpSpPr>
          <p:cNvPr id="28" name="Google Shape;11360;p84"/>
          <p:cNvGrpSpPr/>
          <p:nvPr/>
        </p:nvGrpSpPr>
        <p:grpSpPr>
          <a:xfrm>
            <a:off x="2710038" y="3752661"/>
            <a:ext cx="408023" cy="407411"/>
            <a:chOff x="2344476" y="2571761"/>
            <a:chExt cx="417671" cy="417045"/>
          </a:xfrm>
          <a:solidFill>
            <a:schemeClr val="tx1"/>
          </a:solidFill>
        </p:grpSpPr>
        <p:sp>
          <p:nvSpPr>
            <p:cNvPr id="29" name="Google Shape;11361;p84"/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362;p84"/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pen Source Lab Pitch Deck by Slidesgo">
  <a:themeElements>
    <a:clrScheme name="Simple Light">
      <a:dk1>
        <a:srgbClr val="000000"/>
      </a:dk1>
      <a:lt1>
        <a:srgbClr val="FFFFFF"/>
      </a:lt1>
      <a:dk2>
        <a:srgbClr val="F6F6F6"/>
      </a:dk2>
      <a:lt2>
        <a:srgbClr val="F4CCD8"/>
      </a:lt2>
      <a:accent1>
        <a:srgbClr val="6DCA44"/>
      </a:accent1>
      <a:accent2>
        <a:srgbClr val="CEE8E9"/>
      </a:accent2>
      <a:accent3>
        <a:srgbClr val="E66C38"/>
      </a:accent3>
      <a:accent4>
        <a:srgbClr val="F4CCD8"/>
      </a:accent4>
      <a:accent5>
        <a:srgbClr val="6DCA44"/>
      </a:accent5>
      <a:accent6>
        <a:srgbClr val="CEE8E9"/>
      </a:accent6>
      <a:hlink>
        <a:srgbClr val="F4CC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349</Words>
  <Application>Microsoft Office PowerPoint</Application>
  <PresentationFormat>On-screen Show (16:9)</PresentationFormat>
  <Paragraphs>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Lato</vt:lpstr>
      <vt:lpstr>Roboto</vt:lpstr>
      <vt:lpstr>Consolas</vt:lpstr>
      <vt:lpstr>Fira Sans</vt:lpstr>
      <vt:lpstr>Courier New</vt:lpstr>
      <vt:lpstr>Wingdings</vt:lpstr>
      <vt:lpstr>Lato Light</vt:lpstr>
      <vt:lpstr>Open Source Lab Pitch Deck by Slidesgo</vt:lpstr>
      <vt:lpstr>Употреба програмирања ограничења (CLP) у програмским језицима треће генерације</vt:lpstr>
      <vt:lpstr>01</vt:lpstr>
      <vt:lpstr>Криптоаритметички проблеми</vt:lpstr>
      <vt:lpstr>Судоку</vt:lpstr>
      <vt:lpstr>Какуро</vt:lpstr>
      <vt:lpstr>Магични квадрати</vt:lpstr>
      <vt:lpstr>Магични шестоугао</vt:lpstr>
      <vt:lpstr>Ајнштајнова загонетка</vt:lpstr>
      <vt:lpstr>Prolog и CLP</vt:lpstr>
      <vt:lpstr>Пример CLP програма у Prolog-у</vt:lpstr>
      <vt:lpstr>Пример CLP програма у Prolog-у</vt:lpstr>
      <vt:lpstr>Пример CLP програма у Prolog-у</vt:lpstr>
      <vt:lpstr>Пример CLP програма у Prolog-у</vt:lpstr>
      <vt:lpstr>Пример CLP програма у Prolog-у</vt:lpstr>
      <vt:lpstr>Шта је испод шахте?</vt:lpstr>
      <vt:lpstr>Алгоритми и методе</vt:lpstr>
      <vt:lpstr>C#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Употреба програмирања (CLP) у програмским језицима треће генерације</dc:title>
  <dc:creator>sergej</dc:creator>
  <cp:lastModifiedBy>Windows User</cp:lastModifiedBy>
  <cp:revision>35</cp:revision>
  <dcterms:modified xsi:type="dcterms:W3CDTF">2022-06-01T15:08:38Z</dcterms:modified>
</cp:coreProperties>
</file>